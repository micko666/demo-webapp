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98883-7DCD-4ED0-90E6-BE42035DF62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475CA-C7DF-40CF-AE52-1F5D47AC5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23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475CA-C7DF-40CF-AE52-1F5D47AC51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64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611E-AF76-47F6-8B78-F3862AD3D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8ADAA-5FD6-D47D-9350-10AA5C881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DE3F8-932A-34B2-A15B-F4F83A70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D028C-5364-B7BC-6089-417B8E32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56D8D-1820-2EA7-1733-DD5EE971F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982D2-F809-C277-817A-31C5BF48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693FC-C8CD-8952-1A0E-7287BB6A9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FE620-24F8-7F11-7757-2E5DF402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E1E2D-9967-D9EE-1754-179FF10A4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18CE6-94CF-C4F7-A149-CA1A4680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3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8954-B6A1-C95A-02CC-94AA870AC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EAF7B-0B9C-62A7-CD59-59CC6B121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59860-4469-DBE8-A3EA-8EB8AD6F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7BE14-C870-2BEC-A975-647929BD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4C33F-2CFE-4B91-15DA-3FB7CBA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71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FF42-56B7-9448-B022-7388DAD0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0EC4-466A-8E53-0244-D4D877632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345F7-F2F9-CAAE-D234-D8E98EB71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30601-E7DB-E14F-02EB-D3CC213E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2065D-76B5-5639-4546-4F1B1D2D6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E1BCA-20B2-A3AA-5B85-99EE48F9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5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62D3-1FA8-CB81-C143-5C007826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D9E29-B1A8-B3EA-A659-9BB3F1E20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671DD-498A-06AC-BC7F-1DA7A7545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A6A03-AB56-1377-1D36-7F2A13AE5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639DBB-1AC3-D494-C4AE-C549B02AA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63007-59E2-6731-97AA-612F5921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EB444-A487-EA2F-C8B8-6221BF482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E78DCA-1B90-1C01-7777-9EC66006E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8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18F8-095F-DEB1-7955-0FDEB576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8DA52-6F6E-7F6E-04CF-3E1E01377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62B35-442D-189D-F615-9559EECA4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DA040-2CFD-5385-B747-60FB97FE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D1345-3076-C5D6-9D0C-6E7015B3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18E939-691A-D104-B374-C8FDAE13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4CBD1-BB5C-0F10-EAFC-81C93EFD6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1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6265-F5DA-2D8D-0DFC-E566F441A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605A2-98C2-7217-8C32-7F62ABFA2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33E38-0117-1708-BEEF-A6D9CE24E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C8627-42C9-A996-96F4-2580EB53E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6CD1A-BF64-2418-3458-0D4CC58A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12F6F-C27E-028A-FF1C-FFA6ED8E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05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1DAA-1C85-5C1A-FF16-6FB02601C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BDDE3-DEC7-F4DA-CDFF-70EF7FF09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37ADD-E18D-5150-EBBE-E10AE1459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11533-D644-C238-CE64-860F8A55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E3511-7884-D9E8-298F-F9707F39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044CD-09FA-D559-99F1-3C0E9060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47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B7C1-21E0-4352-E280-049DEB25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D4D65-2C47-61AA-946D-57749D0A3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60DB0-ECD9-3A71-C9F8-D52DBC83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B2E89-C093-DC9D-57F2-1BB5FAD8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99492-7134-BCF6-750A-0293FB059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35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97B310-844F-EFC7-9B0F-8873227E8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4C49D-C084-6ABC-061D-E01AAF31F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17CC8-F8EB-1EF3-F205-BBB9440D5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8C906-841C-BAA5-34DD-581B594E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7BC4A-EF0C-E7C4-BF73-96842CDC8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03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2D8F45-86D3-8AFA-9AFC-DDEA2124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3CAE1-1171-2EA0-F04B-7D101A230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82272-6A24-75A6-565C-3ABCAC89F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61A34-5FA0-4959-A9F7-80D0AD9A20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133C3-808C-AC2C-0C9F-428DA9271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16D82-4646-6144-85A2-9EA60EA5D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E3EF8-792E-472A-ABB9-17BE4C80E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4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14B8-866B-3816-DA53-F65A6C4E76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r-Latn-ME" b="1" dirty="0"/>
              <a:t>Vježbe n8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80C797-8D0C-F5C3-01F0-22F118F0B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r-Latn-ME" dirty="0"/>
          </a:p>
          <a:p>
            <a:r>
              <a:rPr lang="sr-Latn-ME" i="1" dirty="0"/>
              <a:t>Upravljanje informacionim tehnologijama</a:t>
            </a: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B750A-BF59-108E-3C6E-2716E708F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3" y="88491"/>
            <a:ext cx="2070068" cy="134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20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5933-F044-4FA7-2071-4E55B4D6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A) </a:t>
            </a:r>
            <a:r>
              <a:rPr lang="en-US" b="1" dirty="0" err="1"/>
              <a:t>Identifikacija</a:t>
            </a:r>
            <a:r>
              <a:rPr lang="en-US" b="1" dirty="0"/>
              <a:t> </a:t>
            </a:r>
            <a:r>
              <a:rPr lang="en-US" b="1" dirty="0" err="1"/>
              <a:t>troškova</a:t>
            </a:r>
            <a:r>
              <a:rPr lang="en-US" b="1" dirty="0"/>
              <a:t> (Cost)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B5B96-BCA2-6253-7EC2-00C562A34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i="1" dirty="0" err="1"/>
              <a:t>Troškovi</a:t>
            </a:r>
            <a:r>
              <a:rPr lang="en-US" b="1" i="1" dirty="0"/>
              <a:t> </a:t>
            </a:r>
            <a:r>
              <a:rPr lang="en-US" b="1" i="1" dirty="0" err="1"/>
              <a:t>razvoja</a:t>
            </a:r>
            <a:r>
              <a:rPr lang="en-US" dirty="0"/>
              <a:t>: </a:t>
            </a:r>
            <a:r>
              <a:rPr lang="en-US" dirty="0" err="1"/>
              <a:t>softver</a:t>
            </a:r>
            <a:r>
              <a:rPr lang="en-US" dirty="0"/>
              <a:t>, </a:t>
            </a:r>
            <a:r>
              <a:rPr lang="en-US" dirty="0" err="1"/>
              <a:t>hardver</a:t>
            </a:r>
            <a:r>
              <a:rPr lang="en-US" dirty="0"/>
              <a:t>, AI </a:t>
            </a:r>
            <a:r>
              <a:rPr lang="en-US" dirty="0" err="1"/>
              <a:t>modeli</a:t>
            </a:r>
            <a:r>
              <a:rPr lang="en-US" dirty="0"/>
              <a:t>, HPC </a:t>
            </a:r>
            <a:r>
              <a:rPr lang="en-US" dirty="0" err="1"/>
              <a:t>resursi</a:t>
            </a:r>
            <a:r>
              <a:rPr lang="en-US" dirty="0"/>
              <a:t>, </a:t>
            </a:r>
            <a:r>
              <a:rPr lang="en-US" dirty="0" err="1"/>
              <a:t>datasetovi</a:t>
            </a:r>
            <a:r>
              <a:rPr lang="en-US" dirty="0"/>
              <a:t>.</a:t>
            </a:r>
          </a:p>
          <a:p>
            <a:pPr lvl="0"/>
            <a:r>
              <a:rPr lang="en-US" b="1" i="1" dirty="0" err="1"/>
              <a:t>Troškovi</a:t>
            </a:r>
            <a:r>
              <a:rPr lang="en-US" b="1" i="1" dirty="0"/>
              <a:t> </a:t>
            </a:r>
            <a:r>
              <a:rPr lang="en-US" b="1" i="1" dirty="0" err="1"/>
              <a:t>implementacije</a:t>
            </a:r>
            <a:r>
              <a:rPr lang="en-US" dirty="0"/>
              <a:t>: </a:t>
            </a:r>
            <a:r>
              <a:rPr lang="en-US" dirty="0" err="1"/>
              <a:t>infrastruktura</a:t>
            </a:r>
            <a:r>
              <a:rPr lang="en-US" dirty="0"/>
              <a:t>, </a:t>
            </a:r>
            <a:r>
              <a:rPr lang="en-US" dirty="0" err="1"/>
              <a:t>licence</a:t>
            </a:r>
            <a:r>
              <a:rPr lang="en-US" dirty="0"/>
              <a:t>, </a:t>
            </a:r>
            <a:r>
              <a:rPr lang="en-US" dirty="0" err="1"/>
              <a:t>integracija</a:t>
            </a:r>
            <a:r>
              <a:rPr lang="en-US" dirty="0"/>
              <a:t>, </a:t>
            </a:r>
            <a:r>
              <a:rPr lang="en-US" dirty="0" err="1"/>
              <a:t>testiranje</a:t>
            </a:r>
            <a:r>
              <a:rPr lang="en-US" dirty="0"/>
              <a:t>.</a:t>
            </a:r>
          </a:p>
          <a:p>
            <a:pPr lvl="0"/>
            <a:r>
              <a:rPr lang="en-US" b="1" i="1" dirty="0" err="1"/>
              <a:t>Operativni</a:t>
            </a:r>
            <a:r>
              <a:rPr lang="en-US" b="1" i="1" dirty="0"/>
              <a:t> </a:t>
            </a:r>
            <a:r>
              <a:rPr lang="en-US" b="1" i="1" dirty="0" err="1"/>
              <a:t>troškovi</a:t>
            </a:r>
            <a:r>
              <a:rPr lang="en-US" dirty="0"/>
              <a:t>: </a:t>
            </a:r>
            <a:r>
              <a:rPr lang="en-US" dirty="0" err="1"/>
              <a:t>održavanje</a:t>
            </a:r>
            <a:r>
              <a:rPr lang="en-US" dirty="0"/>
              <a:t>, </a:t>
            </a:r>
            <a:r>
              <a:rPr lang="en-US" dirty="0" err="1"/>
              <a:t>nadzor</a:t>
            </a:r>
            <a:r>
              <a:rPr lang="en-US" dirty="0"/>
              <a:t>, </a:t>
            </a:r>
            <a:r>
              <a:rPr lang="en-US" dirty="0" err="1"/>
              <a:t>osoblje</a:t>
            </a:r>
            <a:r>
              <a:rPr lang="en-US" dirty="0"/>
              <a:t>, cloud </a:t>
            </a:r>
            <a:r>
              <a:rPr lang="en-US" dirty="0" err="1"/>
              <a:t>resursi</a:t>
            </a:r>
            <a:r>
              <a:rPr lang="en-US" dirty="0"/>
              <a:t>.</a:t>
            </a:r>
          </a:p>
          <a:p>
            <a:pPr lvl="0"/>
            <a:r>
              <a:rPr lang="en-US" b="1" i="1" dirty="0" err="1"/>
              <a:t>Potencijalni</a:t>
            </a:r>
            <a:r>
              <a:rPr lang="en-US" b="1" i="1" dirty="0"/>
              <a:t> </a:t>
            </a:r>
            <a:r>
              <a:rPr lang="en-US" b="1" i="1" dirty="0" err="1"/>
              <a:t>rizici</a:t>
            </a:r>
            <a:r>
              <a:rPr lang="en-US" dirty="0"/>
              <a:t>: </a:t>
            </a:r>
            <a:r>
              <a:rPr lang="en-US" dirty="0" err="1"/>
              <a:t>neuspjeh</a:t>
            </a:r>
            <a:r>
              <a:rPr lang="en-US" dirty="0"/>
              <a:t> AI </a:t>
            </a:r>
            <a:r>
              <a:rPr lang="en-US" dirty="0" err="1"/>
              <a:t>modela</a:t>
            </a:r>
            <a:r>
              <a:rPr lang="en-US" dirty="0"/>
              <a:t>, </a:t>
            </a:r>
            <a:r>
              <a:rPr lang="en-US" dirty="0" err="1"/>
              <a:t>sigurnosni</a:t>
            </a:r>
            <a:r>
              <a:rPr lang="en-US" dirty="0"/>
              <a:t> </a:t>
            </a:r>
            <a:r>
              <a:rPr lang="en-US" dirty="0" err="1"/>
              <a:t>rizici</a:t>
            </a:r>
            <a:r>
              <a:rPr lang="en-US" dirty="0"/>
              <a:t>, </a:t>
            </a:r>
            <a:r>
              <a:rPr lang="en-US" dirty="0" err="1"/>
              <a:t>pravni</a:t>
            </a:r>
            <a:r>
              <a:rPr lang="en-US" dirty="0"/>
              <a:t>/</a:t>
            </a:r>
            <a:r>
              <a:rPr lang="en-US" dirty="0" err="1"/>
              <a:t>regulatorni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66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E9D28-0C3E-A7D2-8124-9D4412EB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CD01D-8891-021B-F0F7-1B486611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6652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Cost Analiza –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Primjer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: AI Study Planner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E1AE4-14CB-655A-A30F-A2F4E7413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/>
              <a:t>• </a:t>
            </a:r>
            <a:r>
              <a:rPr lang="en-US" b="1" i="1" dirty="0" err="1"/>
              <a:t>Troškovi</a:t>
            </a:r>
            <a:r>
              <a:rPr lang="en-US" b="1" i="1" dirty="0"/>
              <a:t> </a:t>
            </a:r>
            <a:r>
              <a:rPr lang="en-US" b="1" i="1" dirty="0" err="1"/>
              <a:t>razvoja</a:t>
            </a:r>
            <a:r>
              <a:rPr lang="en-US" dirty="0"/>
              <a:t>: </a:t>
            </a:r>
            <a:r>
              <a:rPr lang="sr-Latn-ME" dirty="0"/>
              <a:t>50</a:t>
            </a:r>
            <a:r>
              <a:rPr lang="en-US" dirty="0"/>
              <a:t>00€ </a:t>
            </a:r>
            <a:r>
              <a:rPr lang="en-US" dirty="0" err="1"/>
              <a:t>softver</a:t>
            </a:r>
            <a:r>
              <a:rPr lang="en-US" dirty="0"/>
              <a:t>, 2</a:t>
            </a:r>
            <a:r>
              <a:rPr lang="sr-Latn-ME" dirty="0"/>
              <a:t>0</a:t>
            </a:r>
            <a:r>
              <a:rPr lang="en-US" dirty="0"/>
              <a:t>00€ </a:t>
            </a:r>
            <a:r>
              <a:rPr lang="en-US" dirty="0" err="1"/>
              <a:t>hardver</a:t>
            </a:r>
            <a:r>
              <a:rPr lang="en-US" dirty="0"/>
              <a:t>, 150€ HPC </a:t>
            </a:r>
            <a:r>
              <a:rPr lang="en-US" dirty="0" err="1"/>
              <a:t>resursi</a:t>
            </a:r>
            <a:r>
              <a:rPr lang="en-US" dirty="0"/>
              <a:t>, 0€ </a:t>
            </a:r>
            <a:r>
              <a:rPr lang="en-US" dirty="0" err="1"/>
              <a:t>datasetovi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i="1" dirty="0" err="1"/>
              <a:t>Troškovi</a:t>
            </a:r>
            <a:r>
              <a:rPr lang="en-US" b="1" i="1" dirty="0"/>
              <a:t> </a:t>
            </a:r>
            <a:r>
              <a:rPr lang="en-US" b="1" i="1" dirty="0" err="1"/>
              <a:t>implementacije</a:t>
            </a:r>
            <a:r>
              <a:rPr lang="en-US" dirty="0"/>
              <a:t>: 120€ hosting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domen</a:t>
            </a:r>
            <a:r>
              <a:rPr lang="en-US" dirty="0"/>
              <a:t>, 80€ </a:t>
            </a:r>
            <a:r>
              <a:rPr lang="en-US" dirty="0" err="1"/>
              <a:t>integracija</a:t>
            </a:r>
            <a:r>
              <a:rPr lang="en-US" dirty="0"/>
              <a:t> login </a:t>
            </a:r>
            <a:r>
              <a:rPr lang="en-US" dirty="0" err="1"/>
              <a:t>sistema</a:t>
            </a:r>
            <a:r>
              <a:rPr lang="en-US" dirty="0"/>
              <a:t>, 50€ </a:t>
            </a:r>
            <a:r>
              <a:rPr lang="en-US" dirty="0" err="1"/>
              <a:t>testiranje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i="1" dirty="0" err="1"/>
              <a:t>Operativni</a:t>
            </a:r>
            <a:r>
              <a:rPr lang="en-US" b="1" i="1" dirty="0"/>
              <a:t> </a:t>
            </a:r>
            <a:r>
              <a:rPr lang="en-US" b="1" i="1" dirty="0" err="1"/>
              <a:t>troškovi</a:t>
            </a:r>
            <a:r>
              <a:rPr lang="en-US" dirty="0"/>
              <a:t>: 200€ </a:t>
            </a:r>
            <a:r>
              <a:rPr lang="en-US" dirty="0" err="1"/>
              <a:t>održavanje</a:t>
            </a:r>
            <a:r>
              <a:rPr lang="en-US" dirty="0"/>
              <a:t>, 250€ cloud </a:t>
            </a:r>
            <a:r>
              <a:rPr lang="en-US" dirty="0" err="1"/>
              <a:t>resursi</a:t>
            </a:r>
            <a:r>
              <a:rPr lang="en-US" dirty="0"/>
              <a:t>, 300€ </a:t>
            </a:r>
            <a:r>
              <a:rPr lang="en-US" dirty="0" err="1"/>
              <a:t>osoblje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i="1" dirty="0" err="1"/>
              <a:t>Potencijalni</a:t>
            </a:r>
            <a:r>
              <a:rPr lang="en-US" b="1" i="1" dirty="0"/>
              <a:t> </a:t>
            </a:r>
            <a:r>
              <a:rPr lang="en-US" b="1" i="1" dirty="0" err="1"/>
              <a:t>rizici</a:t>
            </a:r>
            <a:r>
              <a:rPr lang="en-US" dirty="0"/>
              <a:t>: </a:t>
            </a:r>
            <a:r>
              <a:rPr lang="en-US" dirty="0" err="1"/>
              <a:t>Netačne</a:t>
            </a:r>
            <a:r>
              <a:rPr lang="en-US" dirty="0"/>
              <a:t> AI </a:t>
            </a:r>
            <a:r>
              <a:rPr lang="en-US" dirty="0" err="1"/>
              <a:t>preporuke</a:t>
            </a:r>
            <a:r>
              <a:rPr lang="en-US" dirty="0"/>
              <a:t>, </a:t>
            </a:r>
            <a:r>
              <a:rPr lang="en-US" dirty="0" err="1"/>
              <a:t>zaštita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studenata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7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8C7B4-CF5C-42D0-B5B1-3A9616684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88C4-6E4F-EAD9-250C-097D5AEC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B) </a:t>
            </a:r>
            <a:r>
              <a:rPr lang="en-US" b="1" dirty="0" err="1"/>
              <a:t>Identifikacija</a:t>
            </a:r>
            <a:r>
              <a:rPr lang="en-US" b="1" dirty="0"/>
              <a:t> </a:t>
            </a:r>
            <a:r>
              <a:rPr lang="en-US" b="1" dirty="0" err="1"/>
              <a:t>koristi</a:t>
            </a:r>
            <a:r>
              <a:rPr lang="en-US" b="1" dirty="0"/>
              <a:t> (Benefit)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E9599-DF90-BC37-7BE9-4C23CFC7C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i="1" dirty="0" err="1"/>
              <a:t>Direktne</a:t>
            </a:r>
            <a:r>
              <a:rPr lang="en-US" b="1" i="1" dirty="0"/>
              <a:t> </a:t>
            </a:r>
            <a:r>
              <a:rPr lang="en-US" b="1" i="1" dirty="0" err="1"/>
              <a:t>koristi</a:t>
            </a:r>
            <a:r>
              <a:rPr lang="en-US" dirty="0"/>
              <a:t>: </a:t>
            </a:r>
            <a:r>
              <a:rPr lang="en-US" dirty="0" err="1"/>
              <a:t>ušteda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, </a:t>
            </a:r>
            <a:r>
              <a:rPr lang="en-US" dirty="0" err="1"/>
              <a:t>smanjenje</a:t>
            </a:r>
            <a:r>
              <a:rPr lang="en-US" dirty="0"/>
              <a:t> </a:t>
            </a:r>
            <a:r>
              <a:rPr lang="en-US" dirty="0" err="1"/>
              <a:t>troškova</a:t>
            </a:r>
            <a:r>
              <a:rPr lang="en-US" dirty="0"/>
              <a:t>, </a:t>
            </a:r>
            <a:r>
              <a:rPr lang="en-US" dirty="0" err="1"/>
              <a:t>povećanje</a:t>
            </a:r>
            <a:r>
              <a:rPr lang="en-US" dirty="0"/>
              <a:t> </a:t>
            </a:r>
            <a:r>
              <a:rPr lang="en-US" dirty="0" err="1"/>
              <a:t>prihoda</a:t>
            </a:r>
            <a:r>
              <a:rPr lang="en-US" dirty="0"/>
              <a:t>.</a:t>
            </a:r>
          </a:p>
          <a:p>
            <a:pPr lvl="0"/>
            <a:r>
              <a:rPr lang="en-US" b="1" i="1" dirty="0" err="1"/>
              <a:t>Indirektne</a:t>
            </a:r>
            <a:r>
              <a:rPr lang="en-US" b="1" i="1" dirty="0"/>
              <a:t> </a:t>
            </a:r>
            <a:r>
              <a:rPr lang="en-US" b="1" i="1" dirty="0" err="1"/>
              <a:t>koristi</a:t>
            </a:r>
            <a:r>
              <a:rPr lang="en-US" dirty="0"/>
              <a:t>: </a:t>
            </a:r>
            <a:r>
              <a:rPr lang="en-US" dirty="0" err="1"/>
              <a:t>poboljšanje</a:t>
            </a:r>
            <a:r>
              <a:rPr lang="en-US" dirty="0"/>
              <a:t> </a:t>
            </a:r>
            <a:r>
              <a:rPr lang="en-US" dirty="0" err="1"/>
              <a:t>korisničkog</a:t>
            </a:r>
            <a:r>
              <a:rPr lang="en-US" dirty="0"/>
              <a:t> </a:t>
            </a:r>
            <a:r>
              <a:rPr lang="en-US" dirty="0" err="1"/>
              <a:t>iskustva</a:t>
            </a:r>
            <a:r>
              <a:rPr lang="en-US" dirty="0"/>
              <a:t>, </a:t>
            </a:r>
            <a:r>
              <a:rPr lang="en-US" dirty="0" err="1"/>
              <a:t>reputacija</a:t>
            </a:r>
            <a:r>
              <a:rPr lang="en-US" dirty="0"/>
              <a:t>, </a:t>
            </a:r>
            <a:r>
              <a:rPr lang="en-US" dirty="0" err="1"/>
              <a:t>skalabilnost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</a:t>
            </a:r>
          </a:p>
          <a:p>
            <a:pPr lvl="0"/>
            <a:r>
              <a:rPr lang="en-US" b="1" i="1" dirty="0" err="1"/>
              <a:t>Kvantitativne</a:t>
            </a:r>
            <a:r>
              <a:rPr lang="en-US" b="1" i="1" dirty="0"/>
              <a:t> </a:t>
            </a:r>
            <a:r>
              <a:rPr lang="en-US" b="1" i="1" dirty="0" err="1"/>
              <a:t>koristi</a:t>
            </a:r>
            <a:r>
              <a:rPr lang="en-US" dirty="0"/>
              <a:t>: </a:t>
            </a:r>
            <a:r>
              <a:rPr lang="en-US" dirty="0" err="1"/>
              <a:t>procjena</a:t>
            </a:r>
            <a:r>
              <a:rPr lang="en-US" dirty="0"/>
              <a:t> u </a:t>
            </a:r>
            <a:r>
              <a:rPr lang="en-US" dirty="0" err="1"/>
              <a:t>novčanim</a:t>
            </a:r>
            <a:r>
              <a:rPr lang="en-US" dirty="0"/>
              <a:t> </a:t>
            </a:r>
            <a:r>
              <a:rPr lang="en-US" dirty="0" err="1"/>
              <a:t>vrijednostima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vremenskim</a:t>
            </a:r>
            <a:r>
              <a:rPr lang="en-US" dirty="0"/>
              <a:t> </a:t>
            </a:r>
            <a:r>
              <a:rPr lang="en-US" dirty="0" err="1"/>
              <a:t>uštedama</a:t>
            </a:r>
            <a:r>
              <a:rPr lang="en-US" dirty="0"/>
              <a:t>.</a:t>
            </a:r>
          </a:p>
          <a:p>
            <a:pPr lvl="0"/>
            <a:r>
              <a:rPr lang="en-US" b="1" i="1" dirty="0" err="1"/>
              <a:t>Kvalitativne</a:t>
            </a:r>
            <a:r>
              <a:rPr lang="en-US" b="1" i="1" dirty="0"/>
              <a:t> </a:t>
            </a:r>
            <a:r>
              <a:rPr lang="en-US" b="1" i="1" dirty="0" err="1"/>
              <a:t>koristi</a:t>
            </a:r>
            <a:r>
              <a:rPr lang="en-US" dirty="0"/>
              <a:t>: </a:t>
            </a:r>
            <a:r>
              <a:rPr lang="en-US" dirty="0" err="1"/>
              <a:t>opisane</a:t>
            </a:r>
            <a:r>
              <a:rPr lang="en-US" dirty="0"/>
              <a:t> </a:t>
            </a:r>
            <a:r>
              <a:rPr lang="en-US" dirty="0" err="1"/>
              <a:t>prednosti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se </a:t>
            </a:r>
            <a:r>
              <a:rPr lang="en-US" dirty="0" err="1"/>
              <a:t>teško</a:t>
            </a:r>
            <a:r>
              <a:rPr lang="en-US" dirty="0"/>
              <a:t> </a:t>
            </a:r>
            <a:r>
              <a:rPr lang="en-US" dirty="0" err="1"/>
              <a:t>kvantifikuju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povećana</a:t>
            </a:r>
            <a:r>
              <a:rPr lang="en-US" dirty="0"/>
              <a:t> </a:t>
            </a:r>
            <a:r>
              <a:rPr lang="en-US" dirty="0" err="1"/>
              <a:t>sigurnost</a:t>
            </a:r>
            <a:r>
              <a:rPr lang="en-US" dirty="0"/>
              <a:t>, </a:t>
            </a:r>
            <a:r>
              <a:rPr lang="en-US" dirty="0" err="1"/>
              <a:t>bolja</a:t>
            </a:r>
            <a:r>
              <a:rPr lang="en-US" dirty="0"/>
              <a:t> </a:t>
            </a:r>
            <a:r>
              <a:rPr lang="en-US" dirty="0" err="1"/>
              <a:t>edukacija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594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140F4-BAF2-C711-54D5-FAC8FC7F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7F8F-58B5-A65B-F7A5-8A92CE35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b="1" dirty="0">
                <a:solidFill>
                  <a:schemeClr val="accent1">
                    <a:lumMod val="50000"/>
                  </a:schemeClr>
                </a:solidFill>
              </a:rPr>
              <a:t>Benefit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Analiza –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Primjer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: AI Study Planner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1DEB6-4D54-B41A-98EA-8DD3F013D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/>
              <a:t>• </a:t>
            </a:r>
            <a:r>
              <a:rPr lang="en-US" b="1" i="1" dirty="0" err="1"/>
              <a:t>Direktne</a:t>
            </a:r>
            <a:r>
              <a:rPr lang="en-US" b="1" i="1" dirty="0"/>
              <a:t> </a:t>
            </a:r>
            <a:r>
              <a:rPr lang="en-US" b="1" i="1" dirty="0" err="1"/>
              <a:t>koristi</a:t>
            </a:r>
            <a:r>
              <a:rPr lang="en-US" dirty="0"/>
              <a:t>: </a:t>
            </a:r>
            <a:r>
              <a:rPr lang="en-US" dirty="0" err="1"/>
              <a:t>Ušteda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 </a:t>
            </a:r>
            <a:r>
              <a:rPr lang="en-US" dirty="0" err="1"/>
              <a:t>studentima</a:t>
            </a:r>
            <a:r>
              <a:rPr lang="en-US" dirty="0"/>
              <a:t>, </a:t>
            </a:r>
            <a:r>
              <a:rPr lang="en-US" dirty="0" err="1"/>
              <a:t>poboljšanje</a:t>
            </a:r>
            <a:r>
              <a:rPr lang="en-US" dirty="0"/>
              <a:t> </a:t>
            </a:r>
            <a:r>
              <a:rPr lang="en-US" dirty="0" err="1"/>
              <a:t>uspjeha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ispitima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i="1" dirty="0" err="1"/>
              <a:t>Indirektne</a:t>
            </a:r>
            <a:r>
              <a:rPr lang="en-US" b="1" i="1" dirty="0"/>
              <a:t> </a:t>
            </a:r>
            <a:r>
              <a:rPr lang="en-US" b="1" i="1" dirty="0" err="1"/>
              <a:t>koristi</a:t>
            </a:r>
            <a:r>
              <a:rPr lang="en-US" dirty="0"/>
              <a:t>: </a:t>
            </a:r>
            <a:r>
              <a:rPr lang="en-US" dirty="0" err="1"/>
              <a:t>Smanjen</a:t>
            </a:r>
            <a:r>
              <a:rPr lang="en-US" dirty="0"/>
              <a:t> </a:t>
            </a:r>
            <a:r>
              <a:rPr lang="en-US" dirty="0" err="1"/>
              <a:t>stres</a:t>
            </a:r>
            <a:r>
              <a:rPr lang="en-US" dirty="0"/>
              <a:t>, </a:t>
            </a:r>
            <a:r>
              <a:rPr lang="en-US" dirty="0" err="1"/>
              <a:t>bolja</a:t>
            </a:r>
            <a:r>
              <a:rPr lang="en-US" dirty="0"/>
              <a:t> </a:t>
            </a:r>
            <a:r>
              <a:rPr lang="en-US" dirty="0" err="1"/>
              <a:t>reputacija</a:t>
            </a:r>
            <a:r>
              <a:rPr lang="en-US" dirty="0"/>
              <a:t> </a:t>
            </a:r>
            <a:r>
              <a:rPr lang="en-US" dirty="0" err="1"/>
              <a:t>fakulteta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i="1" dirty="0" err="1"/>
              <a:t>Kvantitativne</a:t>
            </a:r>
            <a:r>
              <a:rPr lang="en-US" b="1" i="1" dirty="0"/>
              <a:t> </a:t>
            </a:r>
            <a:r>
              <a:rPr lang="en-US" b="1" i="1" dirty="0" err="1"/>
              <a:t>koristi</a:t>
            </a:r>
            <a:r>
              <a:rPr lang="en-US" dirty="0"/>
              <a:t>: </a:t>
            </a:r>
            <a:r>
              <a:rPr lang="en-US" dirty="0" err="1"/>
              <a:t>Procijenjena</a:t>
            </a:r>
            <a:r>
              <a:rPr lang="en-US" dirty="0"/>
              <a:t> </a:t>
            </a:r>
            <a:r>
              <a:rPr lang="en-US" dirty="0" err="1"/>
              <a:t>ukupna</a:t>
            </a:r>
            <a:r>
              <a:rPr lang="en-US" dirty="0"/>
              <a:t> </a:t>
            </a:r>
            <a:r>
              <a:rPr lang="en-US" dirty="0" err="1"/>
              <a:t>vrijednost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~22.000€ </a:t>
            </a:r>
            <a:r>
              <a:rPr lang="en-US" dirty="0" err="1"/>
              <a:t>godišnje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i="1" dirty="0" err="1"/>
              <a:t>Kvalitativne</a:t>
            </a:r>
            <a:r>
              <a:rPr lang="en-US" b="1" i="1" dirty="0"/>
              <a:t> </a:t>
            </a:r>
            <a:r>
              <a:rPr lang="en-US" b="1" i="1" dirty="0" err="1"/>
              <a:t>koristi</a:t>
            </a:r>
            <a:r>
              <a:rPr lang="en-US" dirty="0"/>
              <a:t>: </a:t>
            </a:r>
            <a:r>
              <a:rPr lang="en-US" dirty="0" err="1"/>
              <a:t>Bolja</a:t>
            </a:r>
            <a:r>
              <a:rPr lang="en-US" dirty="0"/>
              <a:t> </a:t>
            </a:r>
            <a:r>
              <a:rPr lang="en-US" dirty="0" err="1"/>
              <a:t>organizacija</a:t>
            </a:r>
            <a:r>
              <a:rPr lang="en-US" dirty="0"/>
              <a:t>, </a:t>
            </a:r>
            <a:r>
              <a:rPr lang="en-US" dirty="0" err="1"/>
              <a:t>motivacija</a:t>
            </a:r>
            <a:r>
              <a:rPr lang="en-US" dirty="0"/>
              <a:t>, </a:t>
            </a:r>
            <a:r>
              <a:rPr lang="en-US" dirty="0" err="1"/>
              <a:t>skalabilnost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fakultete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248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5D2C-70D3-DBDB-520F-9448067E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70B2-3DCB-3A83-6AEE-690D1580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C) Analiza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izračunavanje</a:t>
            </a:r>
            <a:r>
              <a:rPr lang="en-US" b="1" dirty="0"/>
              <a:t> </a:t>
            </a:r>
            <a:r>
              <a:rPr lang="en-US" b="1" dirty="0" err="1"/>
              <a:t>odnosa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EFFED-759B-2648-7890-438BCDC43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Proračun</a:t>
            </a:r>
            <a:r>
              <a:rPr lang="en-US" dirty="0"/>
              <a:t> </a:t>
            </a:r>
            <a:r>
              <a:rPr lang="en-US" dirty="0" err="1"/>
              <a:t>neto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: </a:t>
            </a:r>
            <a:r>
              <a:rPr lang="en-US" b="1" dirty="0" err="1"/>
              <a:t>Ukupne</a:t>
            </a:r>
            <a:r>
              <a:rPr lang="en-US" b="1" dirty="0"/>
              <a:t> </a:t>
            </a:r>
            <a:r>
              <a:rPr lang="en-US" b="1" dirty="0" err="1"/>
              <a:t>koristi</a:t>
            </a:r>
            <a:r>
              <a:rPr lang="en-US" b="1" dirty="0"/>
              <a:t> – </a:t>
            </a:r>
            <a:r>
              <a:rPr lang="en-US" b="1" dirty="0" err="1"/>
              <a:t>Ukupni</a:t>
            </a:r>
            <a:r>
              <a:rPr lang="en-US" b="1" dirty="0"/>
              <a:t> </a:t>
            </a:r>
            <a:r>
              <a:rPr lang="en-US" b="1" dirty="0" err="1"/>
              <a:t>troškovi</a:t>
            </a:r>
            <a:endParaRPr lang="en-US" dirty="0"/>
          </a:p>
          <a:p>
            <a:pPr lvl="0"/>
            <a:r>
              <a:rPr lang="en-US" dirty="0" err="1"/>
              <a:t>Izračunavanje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troškova</a:t>
            </a:r>
            <a:r>
              <a:rPr lang="en-US" dirty="0"/>
              <a:t> (Benefit/Cost Ratio, BCR).</a:t>
            </a:r>
          </a:p>
          <a:p>
            <a:pPr lvl="0"/>
            <a:r>
              <a:rPr lang="en-US" dirty="0" err="1"/>
              <a:t>Identifikacija</a:t>
            </a:r>
            <a:r>
              <a:rPr lang="en-US" dirty="0"/>
              <a:t>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faktora</a:t>
            </a:r>
            <a:r>
              <a:rPr lang="en-US" dirty="0"/>
              <a:t> koji </a:t>
            </a:r>
            <a:r>
              <a:rPr lang="en-US" dirty="0" err="1"/>
              <a:t>najviše</a:t>
            </a:r>
            <a:r>
              <a:rPr lang="en-US" dirty="0"/>
              <a:t> </a:t>
            </a:r>
            <a:r>
              <a:rPr lang="en-US" dirty="0" err="1"/>
              <a:t>utiču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razmjeru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troškova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656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BC6D7-FEEF-9228-F207-A5352B9E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6B7EA-6D2C-B174-D812-018AF5FB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b="1" dirty="0">
                <a:solidFill>
                  <a:schemeClr val="accent1">
                    <a:lumMod val="50000"/>
                  </a:schemeClr>
                </a:solidFill>
              </a:rPr>
              <a:t>Benefit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Analiza –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Primjer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: AI Study Planner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83022-165E-61EE-3E55-1592770DD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</a:t>
            </a:r>
            <a:r>
              <a:rPr lang="en-US" dirty="0" err="1"/>
              <a:t>Ukupni</a:t>
            </a:r>
            <a:r>
              <a:rPr lang="en-US" dirty="0"/>
              <a:t> </a:t>
            </a:r>
            <a:r>
              <a:rPr lang="en-US" dirty="0" err="1"/>
              <a:t>troškovi</a:t>
            </a:r>
            <a:r>
              <a:rPr lang="en-US" dirty="0"/>
              <a:t>: ~1.650€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Ukupne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: ~22.000€</a:t>
            </a:r>
            <a:br>
              <a:rPr lang="en-US" dirty="0"/>
            </a:br>
            <a:r>
              <a:rPr lang="en-US" dirty="0"/>
              <a:t>• Neto </a:t>
            </a:r>
            <a:r>
              <a:rPr lang="en-US" dirty="0" err="1"/>
              <a:t>korist</a:t>
            </a:r>
            <a:r>
              <a:rPr lang="en-US" dirty="0"/>
              <a:t>: ~</a:t>
            </a:r>
            <a:r>
              <a:rPr lang="sr-Latn-ME" dirty="0"/>
              <a:t>22.000 – 1.650= </a:t>
            </a:r>
            <a:r>
              <a:rPr lang="en-US" dirty="0"/>
              <a:t>20.350€</a:t>
            </a:r>
            <a:br>
              <a:rPr lang="en-US" dirty="0"/>
            </a:br>
            <a:r>
              <a:rPr lang="en-US" dirty="0"/>
              <a:t>• Benefit/Cost Ratio (BCR): </a:t>
            </a:r>
            <a:endParaRPr lang="sr-Latn-ME" dirty="0"/>
          </a:p>
          <a:p>
            <a:pPr marL="0" indent="0">
              <a:buNone/>
            </a:pPr>
            <a:r>
              <a:rPr lang="en-US" sz="2400" dirty="0"/>
              <a:t>22.000 € ÷ 1.650 € ≈ </a:t>
            </a:r>
            <a:r>
              <a:rPr lang="en-US" sz="2400" b="1" dirty="0"/>
              <a:t>13.3 : 1</a:t>
            </a:r>
            <a:r>
              <a:rPr lang="sr-Latn-ME" sz="2400" b="1" dirty="0"/>
              <a:t> - </a:t>
            </a:r>
            <a:r>
              <a:rPr lang="en-US" sz="2400" dirty="0"/>
              <a:t>Za </a:t>
            </a:r>
            <a:r>
              <a:rPr lang="en-US" sz="2400" dirty="0" err="1"/>
              <a:t>svaki</a:t>
            </a:r>
            <a:r>
              <a:rPr lang="en-US" sz="2400" dirty="0"/>
              <a:t> </a:t>
            </a:r>
            <a:r>
              <a:rPr lang="en-US" sz="2400" dirty="0" err="1"/>
              <a:t>uloženi</a:t>
            </a:r>
            <a:r>
              <a:rPr lang="en-US" sz="2400" dirty="0"/>
              <a:t> 1 €,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vraća</a:t>
            </a:r>
            <a:r>
              <a:rPr lang="en-US" sz="2400" dirty="0"/>
              <a:t> </a:t>
            </a:r>
            <a:r>
              <a:rPr lang="en-US" sz="2400" dirty="0" err="1"/>
              <a:t>oko</a:t>
            </a:r>
            <a:r>
              <a:rPr lang="en-US" sz="2400" dirty="0"/>
              <a:t> 13 € </a:t>
            </a:r>
            <a:r>
              <a:rPr lang="en-US" sz="2400" dirty="0" err="1"/>
              <a:t>koristi</a:t>
            </a:r>
            <a:r>
              <a:rPr lang="en-US" sz="2400" dirty="0"/>
              <a:t>.</a:t>
            </a:r>
            <a:br>
              <a:rPr lang="en-US" sz="2400" dirty="0"/>
            </a:b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Ključni</a:t>
            </a:r>
            <a:r>
              <a:rPr lang="en-US" dirty="0"/>
              <a:t> </a:t>
            </a:r>
            <a:r>
              <a:rPr lang="en-US" dirty="0" err="1"/>
              <a:t>faktori</a:t>
            </a:r>
            <a:r>
              <a:rPr lang="en-US" dirty="0"/>
              <a:t>: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, </a:t>
            </a:r>
            <a:r>
              <a:rPr lang="en-US" dirty="0" err="1"/>
              <a:t>kvalitet</a:t>
            </a:r>
            <a:r>
              <a:rPr lang="en-US" dirty="0"/>
              <a:t> AI </a:t>
            </a:r>
            <a:r>
              <a:rPr lang="en-US" dirty="0" err="1"/>
              <a:t>preporuka</a:t>
            </a:r>
            <a:r>
              <a:rPr lang="en-US" dirty="0"/>
              <a:t>, </a:t>
            </a:r>
            <a:r>
              <a:rPr lang="en-US" dirty="0" err="1"/>
              <a:t>kvalitet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044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CDA8E-4CA1-ADA1-6451-DBF992668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FA46-EA23-F9DF-CE11-8457CBC5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D) </a:t>
            </a:r>
            <a:r>
              <a:rPr lang="en-US" b="1" dirty="0" err="1"/>
              <a:t>Zaključci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preporuke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CDB17-8BB1-208F-026E-E21D38E85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Da li je </a:t>
            </a:r>
            <a:r>
              <a:rPr lang="en-US" dirty="0" err="1"/>
              <a:t>projekat</a:t>
            </a:r>
            <a:r>
              <a:rPr lang="en-US" dirty="0"/>
              <a:t> </a:t>
            </a:r>
            <a:r>
              <a:rPr lang="en-US" dirty="0" err="1"/>
              <a:t>isplativ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resurse</a:t>
            </a:r>
            <a:r>
              <a:rPr lang="en-US" dirty="0"/>
              <a:t> bi </a:t>
            </a:r>
            <a:r>
              <a:rPr lang="en-US" dirty="0" err="1"/>
              <a:t>trebalo</a:t>
            </a:r>
            <a:r>
              <a:rPr lang="en-US" dirty="0"/>
              <a:t> </a:t>
            </a:r>
            <a:r>
              <a:rPr lang="en-US" dirty="0" err="1"/>
              <a:t>prioritizovati</a:t>
            </a:r>
            <a:r>
              <a:rPr lang="en-US" dirty="0"/>
              <a:t> za </a:t>
            </a:r>
            <a:r>
              <a:rPr lang="en-US" dirty="0" err="1"/>
              <a:t>bolji</a:t>
            </a:r>
            <a:r>
              <a:rPr lang="en-US" dirty="0"/>
              <a:t> </a:t>
            </a:r>
            <a:r>
              <a:rPr lang="en-US" dirty="0" err="1"/>
              <a:t>udio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troškova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Potencijalne</a:t>
            </a:r>
            <a:r>
              <a:rPr lang="en-US" dirty="0"/>
              <a:t> alternative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optimizacije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82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1E313-0AC3-CF60-54A2-3D2B6E32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561F-C1D1-F7F4-5194-4F83A6D3B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E)(</a:t>
            </a:r>
            <a:r>
              <a:rPr lang="en-US" b="1" dirty="0" err="1"/>
              <a:t>Opcionalno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FDF4B-EE78-4840-6CBD-661134979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Vizualizovati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grafikona</a:t>
            </a:r>
            <a:r>
              <a:rPr lang="en-US" dirty="0"/>
              <a:t> (bar chart, pie chart, scatter plot).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184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66FA-2890-E6D1-B2E0-547F4CF7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5D41D-EEE9-C2A1-3F60-7C89424E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67720" cy="1325563"/>
          </a:xfrm>
        </p:spPr>
        <p:txBody>
          <a:bodyPr/>
          <a:lstStyle/>
          <a:p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Vizualizacija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Opcionalno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>
              <a:rPr lang="sr-Latn-ME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–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Primjer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: AI Study Planner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63D20-159A-C52C-D415-02AABF559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Preporučene</a:t>
            </a:r>
            <a:r>
              <a:rPr lang="en-US" dirty="0"/>
              <a:t> </a:t>
            </a:r>
            <a:r>
              <a:rPr lang="en-US" dirty="0" err="1"/>
              <a:t>vizualizacije</a:t>
            </a:r>
            <a:r>
              <a:rPr lang="en-US" dirty="0"/>
              <a:t>: Bar chart (</a:t>
            </a:r>
            <a:r>
              <a:rPr lang="en-US" dirty="0" err="1"/>
              <a:t>troškovi</a:t>
            </a:r>
            <a:r>
              <a:rPr lang="en-US" dirty="0"/>
              <a:t> vs </a:t>
            </a:r>
            <a:r>
              <a:rPr lang="en-US" dirty="0" err="1"/>
              <a:t>koristi</a:t>
            </a:r>
            <a:r>
              <a:rPr lang="en-US" dirty="0"/>
              <a:t>), Pie chart (</a:t>
            </a:r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troškova</a:t>
            </a:r>
            <a:r>
              <a:rPr lang="en-US" dirty="0"/>
              <a:t>), Line chart (</a:t>
            </a:r>
            <a:r>
              <a:rPr lang="en-US" dirty="0" err="1"/>
              <a:t>napredak</a:t>
            </a:r>
            <a:r>
              <a:rPr lang="en-US" dirty="0"/>
              <a:t> </a:t>
            </a:r>
            <a:r>
              <a:rPr lang="en-US" dirty="0" err="1"/>
              <a:t>studenata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vrijeme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628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468</Words>
  <Application>Microsoft Office PowerPoint</Application>
  <PresentationFormat>Widescreen</PresentationFormat>
  <Paragraphs>33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Vježbe n8</vt:lpstr>
      <vt:lpstr>A) Identifikacija troškova (Cost)</vt:lpstr>
      <vt:lpstr>Cost Analiza – Primjer: AI Study Planner</vt:lpstr>
      <vt:lpstr>B) Identifikacija koristi (Benefit)</vt:lpstr>
      <vt:lpstr>Benefit Analiza – Primjer: AI Study Planner</vt:lpstr>
      <vt:lpstr>C) Analiza i izračunavanje odnosa</vt:lpstr>
      <vt:lpstr>Benefit Analiza – Primjer: AI Study Planner</vt:lpstr>
      <vt:lpstr>D) Zaključci i preporuke</vt:lpstr>
      <vt:lpstr>E)(Opcionalno)</vt:lpstr>
      <vt:lpstr>Vizualizacija (Opcionalno) – Primjer: AI Study Planner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Korisnik</dc:creator>
  <cp:lastModifiedBy>Korisnik</cp:lastModifiedBy>
  <cp:revision>3</cp:revision>
  <dcterms:created xsi:type="dcterms:W3CDTF">2025-11-06T17:24:16Z</dcterms:created>
  <dcterms:modified xsi:type="dcterms:W3CDTF">2025-11-07T10:36:24Z</dcterms:modified>
</cp:coreProperties>
</file>