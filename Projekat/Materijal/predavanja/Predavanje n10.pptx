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8" r:id="rId3"/>
    <p:sldId id="257" r:id="rId4"/>
    <p:sldId id="260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69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98883-7DCD-4ED0-90E6-BE42035DF62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475CA-C7DF-40CF-AE52-1F5D47AC5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923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475CA-C7DF-40CF-AE52-1F5D47AC511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64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DF720-B720-D1D3-3788-269820B20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A70D6-DEB1-321E-E072-C864A0C3D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8DC3AF-8B1F-05D8-5297-84D259D6E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E5754-D163-49D0-6171-6556227BC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475CA-C7DF-40CF-AE52-1F5D47AC511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66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18C65-23FA-72F2-2EAD-4CCAA3FC3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60C737-7B5A-BFAF-361E-5D37EEAA7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4C105-D63F-4332-CB0D-57B5298B0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49B4F-CE01-CFFC-472B-2B1EBC1056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475CA-C7DF-40CF-AE52-1F5D47AC511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31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5DE5C-154C-4407-71B0-139CB588B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C232C-E162-7219-873A-97D55A85B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D58A1-1231-6CF8-2FBA-84079C05C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176FA-D31C-F21B-6C73-A633E4F00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475CA-C7DF-40CF-AE52-1F5D47AC511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57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A8E71-ED12-9F96-78C3-C32E4BA89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AF96A4-BF8B-11E2-6972-3A3388567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2CCC8-01DA-8734-8670-B45F86B10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30831-1829-85A3-B516-BF7589A249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475CA-C7DF-40CF-AE52-1F5D47AC511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85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60E85-E8A3-A999-E9E7-7CBAF5EBF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6AD61-051F-A9D2-57C7-E25CC24CA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AAD99-0C7E-E2B0-136E-D6FB8F005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B35BF-0D8E-7FD1-54C6-BB8A241B0A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475CA-C7DF-40CF-AE52-1F5D47AC511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81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91F98-E604-A115-A614-A72CCE04E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39869-04A3-34A4-BE2E-CD1D8A710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EB2D52-B0D2-84C4-DD96-47DE96929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F4372-98EA-5CFF-CC89-A6FC525980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475CA-C7DF-40CF-AE52-1F5D47AC511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3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0A4E7-3129-417D-04CD-A571C21BA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3F219-03A5-6178-5508-E9D85A33D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7293B-79F7-C592-24BB-79503C8D9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27A43-6EDE-0583-5A63-DB2A36846B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475CA-C7DF-40CF-AE52-1F5D47AC511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523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1D016-E7E1-8552-D00F-D2ED1C5ED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9FEDEB-E0C3-2344-CE9D-2103B5CCF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8473D-0F3F-9ECD-7566-26AEFA25A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AF6E6-CA7A-3723-2A33-ED6DECCA3C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475CA-C7DF-40CF-AE52-1F5D47AC511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69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611E-AF76-47F6-8B78-F3862AD3D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8ADAA-5FD6-D47D-9350-10AA5C881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DE3F8-932A-34B2-A15B-F4F83A70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D028C-5364-B7BC-6089-417B8E329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56D8D-1820-2EA7-1733-DD5EE971F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982D2-F809-C277-817A-31C5BF482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693FC-C8CD-8952-1A0E-7287BB6A9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FE620-24F8-7F11-7757-2E5DF402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E1E2D-9967-D9EE-1754-179FF10A4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18CE6-94CF-C4F7-A149-CA1A4680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3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38954-B6A1-C95A-02CC-94AA870AC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EAF7B-0B9C-62A7-CD59-59CC6B121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59860-4469-DBE8-A3EA-8EB8AD6F4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7BE14-C870-2BEC-A975-647929BD5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4C33F-2CFE-4B91-15DA-3FB7CBA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771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CFF42-56B7-9448-B022-7388DAD0B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0EC4-466A-8E53-0244-D4D877632B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345F7-F2F9-CAAE-D234-D8E98EB71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130601-E7DB-E14F-02EB-D3CC213E6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2065D-76B5-5639-4546-4F1B1D2D6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E1BCA-20B2-A3AA-5B85-99EE48F9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54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62D3-1FA8-CB81-C143-5C0078264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D9E29-B1A8-B3EA-A659-9BB3F1E20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671DD-498A-06AC-BC7F-1DA7A7545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1A6A03-AB56-1377-1D36-7F2A13AE52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639DBB-1AC3-D494-C4AE-C549B02AA1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563007-59E2-6731-97AA-612F59210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5EB444-A487-EA2F-C8B8-6221BF482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E78DCA-1B90-1C01-7777-9EC66006E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8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18F8-095F-DEB1-7955-0FDEB576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98DA52-6F6E-7F6E-04CF-3E1E01377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62B35-442D-189D-F615-9559EECA4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8DA040-2CFD-5385-B747-60FB97FE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0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D1345-3076-C5D6-9D0C-6E7015B3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18E939-691A-D104-B374-C8FDAE13C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4CBD1-BB5C-0F10-EAFC-81C93EFD6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1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6265-F5DA-2D8D-0DFC-E566F441A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605A2-98C2-7217-8C32-7F62ABFA2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33E38-0117-1708-BEEF-A6D9CE24E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C8627-42C9-A996-96F4-2580EB53E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6CD1A-BF64-2418-3458-0D4CC58A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12F6F-C27E-028A-FF1C-FFA6ED8EA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05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71DAA-1C85-5C1A-FF16-6FB02601C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8BDDE3-DEC7-F4DA-CDFF-70EF7FF09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C37ADD-E18D-5150-EBBE-E10AE1459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11533-D644-C238-CE64-860F8A553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E3511-7884-D9E8-298F-F9707F39F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044CD-09FA-D559-99F1-3C0E90609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47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B7C1-21E0-4352-E280-049DEB253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DD4D65-2C47-61AA-946D-57749D0A3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60DB0-ECD9-3A71-C9F8-D52DBC83C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B2E89-C093-DC9D-57F2-1BB5FAD8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99492-7134-BCF6-750A-0293FB059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535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97B310-844F-EFC7-9B0F-8873227E82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44C49D-C084-6ABC-061D-E01AAF31F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17CC8-F8EB-1EF3-F205-BBB9440D5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8C906-841C-BAA5-34DD-581B594E6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7BC4A-EF0C-E7C4-BF73-96842CDC8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03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2D8F45-86D3-8AFA-9AFC-DDEA21243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3CAE1-1171-2EA0-F04B-7D101A230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82272-6A24-75A6-565C-3ABCAC89F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61A34-5FA0-4959-A9F7-80D0AD9A203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133C3-808C-AC2C-0C9F-428DA92711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16D82-4646-6144-85A2-9EA60EA5D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48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A14B8-866B-3816-DA53-F65A6C4E76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Predavanje</a:t>
            </a:r>
            <a:r>
              <a:rPr lang="sr-Latn-ME" b="1" dirty="0"/>
              <a:t> n</a:t>
            </a:r>
            <a:r>
              <a:rPr lang="en-US" b="1" dirty="0"/>
              <a:t>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80C797-8D0C-F5C3-01F0-22F118F0B2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r-Latn-ME" dirty="0"/>
          </a:p>
          <a:p>
            <a:r>
              <a:rPr lang="sr-Latn-ME" i="1" dirty="0"/>
              <a:t>Upravljanje informacionim tehnologijama</a:t>
            </a:r>
            <a:endParaRPr lang="en-US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0B750A-BF59-108E-3C6E-2716E708F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23" y="88491"/>
            <a:ext cx="2070068" cy="134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720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92227-CFD3-89EA-0216-3D7B054A6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Biznis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Model Canvas</a:t>
            </a:r>
            <a:r>
              <a:rPr lang="sr-Latn-ME" b="1" dirty="0">
                <a:solidFill>
                  <a:schemeClr val="accent6">
                    <a:lumMod val="75000"/>
                  </a:schemeClr>
                </a:solidFill>
              </a:rPr>
              <a:t> (BMC)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B0218-32EA-19EB-3533-763AB7564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Vizuelni alat za definisanje biznis modela</a:t>
            </a:r>
          </a:p>
          <a:p>
            <a:r>
              <a:rPr lang="pl-PL" dirty="0"/>
              <a:t>Sastoji se od 9 blokova</a:t>
            </a:r>
          </a:p>
          <a:p>
            <a:r>
              <a:rPr lang="sr-Latn-ME" dirty="0"/>
              <a:t>Cilj: </a:t>
            </a:r>
            <a:r>
              <a:rPr lang="en-US" dirty="0"/>
              <a:t>Da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jednostavan</a:t>
            </a:r>
            <a:r>
              <a:rPr lang="en-US" dirty="0"/>
              <a:t>, </a:t>
            </a:r>
            <a:r>
              <a:rPr lang="en-US" dirty="0" err="1"/>
              <a:t>pregledan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vizuelan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prikaže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vaš</a:t>
            </a:r>
            <a:r>
              <a:rPr lang="en-US" dirty="0"/>
              <a:t> </a:t>
            </a:r>
            <a:r>
              <a:rPr lang="en-US" dirty="0" err="1"/>
              <a:t>biznis</a:t>
            </a:r>
            <a:r>
              <a:rPr lang="en-US" dirty="0"/>
              <a:t> </a:t>
            </a:r>
            <a:r>
              <a:rPr lang="en-US" dirty="0" err="1"/>
              <a:t>funkcioniše</a:t>
            </a:r>
            <a:r>
              <a:rPr lang="en-US" dirty="0"/>
              <a:t>, </a:t>
            </a:r>
            <a:r>
              <a:rPr lang="en-US" dirty="0" err="1"/>
              <a:t>kome</a:t>
            </a:r>
            <a:r>
              <a:rPr lang="en-US" dirty="0"/>
              <a:t> </a:t>
            </a:r>
            <a:r>
              <a:rPr lang="en-US" dirty="0" err="1"/>
              <a:t>donosi</a:t>
            </a:r>
            <a:r>
              <a:rPr lang="en-US" dirty="0"/>
              <a:t> </a:t>
            </a:r>
            <a:r>
              <a:rPr lang="en-US" dirty="0" err="1"/>
              <a:t>vrijednost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ostvaruje</a:t>
            </a:r>
            <a:r>
              <a:rPr lang="en-US" dirty="0"/>
              <a:t> </a:t>
            </a:r>
            <a:r>
              <a:rPr lang="en-US" dirty="0" err="1"/>
              <a:t>prihod</a:t>
            </a:r>
            <a:endParaRPr lang="pl-P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844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B5B96-BCA2-6253-7EC2-00C562A34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770022"/>
            <a:ext cx="11967409" cy="7732294"/>
          </a:xfrm>
        </p:spPr>
        <p:txBody>
          <a:bodyPr>
            <a:normAutofit/>
          </a:bodyPr>
          <a:lstStyle/>
          <a:p>
            <a:r>
              <a:rPr lang="en-US" b="1" dirty="0" err="1"/>
              <a:t>Segmenti</a:t>
            </a:r>
            <a:r>
              <a:rPr lang="en-US" b="1" dirty="0"/>
              <a:t> </a:t>
            </a:r>
            <a:r>
              <a:rPr lang="en-US" b="1" dirty="0" err="1"/>
              <a:t>kupaca</a:t>
            </a:r>
            <a:endParaRPr lang="en-US" b="1" dirty="0"/>
          </a:p>
          <a:p>
            <a:r>
              <a:rPr lang="en-US" b="1" dirty="0" err="1"/>
              <a:t>Vr</a:t>
            </a:r>
            <a:r>
              <a:rPr lang="sr-Latn-ME" b="1" dirty="0"/>
              <a:t>ij</a:t>
            </a:r>
            <a:r>
              <a:rPr lang="en-US" b="1" dirty="0" err="1"/>
              <a:t>ednosna</a:t>
            </a:r>
            <a:r>
              <a:rPr lang="en-US" b="1" dirty="0"/>
              <a:t> </a:t>
            </a:r>
            <a:r>
              <a:rPr lang="en-US" b="1" dirty="0" err="1"/>
              <a:t>ponuda</a:t>
            </a:r>
            <a:endParaRPr lang="en-US" b="1" dirty="0"/>
          </a:p>
          <a:p>
            <a:r>
              <a:rPr lang="en-US" b="1" dirty="0"/>
              <a:t>Kanali</a:t>
            </a:r>
          </a:p>
          <a:p>
            <a:r>
              <a:rPr lang="en-US" b="1" dirty="0" err="1"/>
              <a:t>Odnosi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kupcima</a:t>
            </a:r>
            <a:endParaRPr lang="en-US" b="1" dirty="0"/>
          </a:p>
          <a:p>
            <a:r>
              <a:rPr lang="en-US" b="1" dirty="0" err="1"/>
              <a:t>Prihodni</a:t>
            </a:r>
            <a:r>
              <a:rPr lang="en-US" b="1" dirty="0"/>
              <a:t> </a:t>
            </a:r>
            <a:r>
              <a:rPr lang="en-US" b="1" dirty="0" err="1"/>
              <a:t>tokovi</a:t>
            </a:r>
            <a:endParaRPr lang="en-US" b="1" dirty="0"/>
          </a:p>
          <a:p>
            <a:r>
              <a:rPr lang="en-US" b="1" dirty="0" err="1"/>
              <a:t>Ključni</a:t>
            </a:r>
            <a:r>
              <a:rPr lang="en-US" b="1" dirty="0"/>
              <a:t> </a:t>
            </a:r>
            <a:r>
              <a:rPr lang="en-US" b="1" dirty="0" err="1"/>
              <a:t>resursi</a:t>
            </a:r>
            <a:endParaRPr lang="en-US" b="1" dirty="0"/>
          </a:p>
          <a:p>
            <a:r>
              <a:rPr lang="en-US" b="1" dirty="0" err="1"/>
              <a:t>Ključne</a:t>
            </a:r>
            <a:r>
              <a:rPr lang="en-US" b="1" dirty="0"/>
              <a:t> </a:t>
            </a:r>
            <a:r>
              <a:rPr lang="en-US" b="1" dirty="0" err="1"/>
              <a:t>aktivnosti</a:t>
            </a:r>
            <a:endParaRPr lang="en-US" b="1" dirty="0"/>
          </a:p>
          <a:p>
            <a:r>
              <a:rPr lang="en-US" b="1" dirty="0" err="1"/>
              <a:t>Ključni</a:t>
            </a:r>
            <a:r>
              <a:rPr lang="en-US" b="1" dirty="0"/>
              <a:t> </a:t>
            </a:r>
            <a:r>
              <a:rPr lang="en-US" b="1" dirty="0" err="1"/>
              <a:t>partneri</a:t>
            </a:r>
            <a:endParaRPr lang="en-US" b="1" dirty="0"/>
          </a:p>
          <a:p>
            <a:r>
              <a:rPr lang="en-US" b="1" dirty="0" err="1"/>
              <a:t>Struktura</a:t>
            </a:r>
            <a:r>
              <a:rPr lang="en-US" b="1" dirty="0"/>
              <a:t> </a:t>
            </a:r>
            <a:r>
              <a:rPr lang="en-US" b="1" dirty="0" err="1"/>
              <a:t>troškova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661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E9D28-0C3E-A7D2-8124-9D4412EB8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CD01D-8891-021B-F0F7-1B4866116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86652" cy="1325563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Customer Segments 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Segmenti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kupaca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E1AE4-14CB-655A-A30F-A2F4E7413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Grupe </a:t>
            </a:r>
            <a:r>
              <a:rPr lang="en-US" dirty="0" err="1"/>
              <a:t>ljudi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organizacija</a:t>
            </a:r>
            <a:r>
              <a:rPr lang="en-US" dirty="0"/>
              <a:t> za </a:t>
            </a:r>
            <a:r>
              <a:rPr lang="en-US" dirty="0" err="1"/>
              <a:t>koje</a:t>
            </a:r>
            <a:r>
              <a:rPr lang="en-US" dirty="0"/>
              <a:t> je </a:t>
            </a:r>
            <a:r>
              <a:rPr lang="en-US" dirty="0" err="1"/>
              <a:t>vaš</a:t>
            </a:r>
            <a:r>
              <a:rPr lang="en-US" dirty="0"/>
              <a:t> </a:t>
            </a:r>
            <a:r>
              <a:rPr lang="en-US" dirty="0" err="1"/>
              <a:t>proizvod</a:t>
            </a:r>
            <a:r>
              <a:rPr lang="en-US" dirty="0"/>
              <a:t>/</a:t>
            </a:r>
            <a:r>
              <a:rPr lang="en-US" dirty="0" err="1"/>
              <a:t>usluga</a:t>
            </a:r>
            <a:r>
              <a:rPr lang="en-US" dirty="0"/>
              <a:t> </a:t>
            </a:r>
            <a:r>
              <a:rPr lang="en-US" dirty="0" err="1"/>
              <a:t>namijenjena</a:t>
            </a:r>
            <a:r>
              <a:rPr lang="en-US" dirty="0"/>
              <a:t>.</a:t>
            </a:r>
            <a:endParaRPr lang="sr-Latn-ME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sr-Latn-ME" b="1" dirty="0">
                <a:solidFill>
                  <a:schemeClr val="accent6">
                    <a:lumMod val="75000"/>
                  </a:schemeClr>
                </a:solidFill>
              </a:rPr>
              <a:t>Uključiti</a:t>
            </a:r>
            <a:r>
              <a:rPr lang="sr-Latn-ME" b="1" dirty="0">
                <a:solidFill>
                  <a:schemeClr val="tx2"/>
                </a:solidFill>
              </a:rPr>
              <a:t>: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 err="1"/>
              <a:t>Primarne</a:t>
            </a:r>
            <a:r>
              <a:rPr lang="en-US" dirty="0"/>
              <a:t> </a:t>
            </a:r>
            <a:r>
              <a:rPr lang="en-US" dirty="0" err="1"/>
              <a:t>grupe</a:t>
            </a:r>
            <a:r>
              <a:rPr lang="en-US" dirty="0"/>
              <a:t> </a:t>
            </a:r>
            <a:r>
              <a:rPr lang="en-US" dirty="0" err="1"/>
              <a:t>kupaca</a:t>
            </a:r>
            <a:endParaRPr lang="en-US" dirty="0"/>
          </a:p>
          <a:p>
            <a:r>
              <a:rPr lang="en-US" dirty="0" err="1"/>
              <a:t>Problemi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potrebe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imaju</a:t>
            </a:r>
            <a:endParaRPr lang="en-US" dirty="0"/>
          </a:p>
          <a:p>
            <a:r>
              <a:rPr lang="en-US" dirty="0"/>
              <a:t>Demografske </a:t>
            </a:r>
            <a:r>
              <a:rPr lang="en-US" dirty="0" err="1"/>
              <a:t>karakteristike</a:t>
            </a:r>
            <a:r>
              <a:rPr lang="en-US" dirty="0"/>
              <a:t>, </a:t>
            </a:r>
            <a:r>
              <a:rPr lang="en-US" dirty="0" err="1"/>
              <a:t>ponašanja</a:t>
            </a:r>
            <a:r>
              <a:rPr lang="en-US" dirty="0"/>
              <a:t>, </a:t>
            </a:r>
            <a:r>
              <a:rPr lang="en-US" dirty="0" err="1"/>
              <a:t>interesovanja</a:t>
            </a:r>
            <a:endParaRPr lang="en-US" dirty="0"/>
          </a:p>
          <a:p>
            <a:r>
              <a:rPr lang="en-US" dirty="0"/>
              <a:t>Rani </a:t>
            </a:r>
            <a:r>
              <a:rPr lang="en-US" dirty="0" err="1"/>
              <a:t>korisnici</a:t>
            </a:r>
            <a:r>
              <a:rPr lang="en-US" dirty="0"/>
              <a:t> (early adopters)</a:t>
            </a:r>
            <a:endParaRPr lang="sr-Latn-ME" dirty="0"/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Ko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vaši</a:t>
            </a:r>
            <a:r>
              <a:rPr lang="en-US" dirty="0"/>
              <a:t> </a:t>
            </a:r>
            <a:r>
              <a:rPr lang="en-US" dirty="0" err="1"/>
              <a:t>kupci</a:t>
            </a:r>
            <a:r>
              <a:rPr lang="en-US" dirty="0"/>
              <a:t>? Koja </a:t>
            </a:r>
            <a:r>
              <a:rPr lang="en-US" dirty="0" err="1"/>
              <a:t>grupa</a:t>
            </a:r>
            <a:r>
              <a:rPr lang="en-US" dirty="0"/>
              <a:t> je </a:t>
            </a:r>
            <a:r>
              <a:rPr lang="en-US" dirty="0" err="1"/>
              <a:t>najvažnija</a:t>
            </a:r>
            <a:r>
              <a:rPr lang="en-US" dirty="0"/>
              <a:t>? Koju </a:t>
            </a:r>
            <a:r>
              <a:rPr lang="en-US" dirty="0" err="1"/>
              <a:t>njihovu</a:t>
            </a:r>
            <a:r>
              <a:rPr lang="en-US" dirty="0"/>
              <a:t> </a:t>
            </a:r>
            <a:r>
              <a:rPr lang="en-US" dirty="0" err="1"/>
              <a:t>potrebu</a:t>
            </a:r>
            <a:r>
              <a:rPr lang="en-US" dirty="0"/>
              <a:t> </a:t>
            </a:r>
            <a:r>
              <a:rPr lang="en-US" dirty="0" err="1"/>
              <a:t>rješavate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7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4A7B7-C60C-BE92-7E6F-2ADE46C3D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77BF-5365-358A-E291-D61E4C4DD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86652" cy="1325563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Value Proposition 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Vrijednosna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ponuda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B8E0C-AC11-44A7-1579-7E58FBB37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Vrijednost</a:t>
            </a:r>
            <a:r>
              <a:rPr lang="en-US" dirty="0"/>
              <a:t> </a:t>
            </a:r>
            <a:r>
              <a:rPr lang="en-US" dirty="0" err="1"/>
              <a:t>koju</a:t>
            </a:r>
            <a:r>
              <a:rPr lang="en-US" dirty="0"/>
              <a:t> </a:t>
            </a:r>
            <a:r>
              <a:rPr lang="en-US" dirty="0" err="1"/>
              <a:t>stvarate</a:t>
            </a:r>
            <a:r>
              <a:rPr lang="en-US" dirty="0"/>
              <a:t> za </a:t>
            </a:r>
            <a:r>
              <a:rPr lang="en-US" dirty="0" err="1"/>
              <a:t>kupce</a:t>
            </a:r>
            <a:r>
              <a:rPr lang="en-US" dirty="0"/>
              <a:t> — </a:t>
            </a:r>
            <a:r>
              <a:rPr lang="en-US" dirty="0" err="1"/>
              <a:t>razlog</a:t>
            </a:r>
            <a:r>
              <a:rPr lang="en-US" dirty="0"/>
              <a:t> </a:t>
            </a:r>
            <a:r>
              <a:rPr lang="en-US" dirty="0" err="1"/>
              <a:t>zbog</a:t>
            </a:r>
            <a:r>
              <a:rPr lang="en-US" dirty="0"/>
              <a:t> </a:t>
            </a:r>
            <a:r>
              <a:rPr lang="en-US" dirty="0" err="1"/>
              <a:t>kojeg</a:t>
            </a:r>
            <a:r>
              <a:rPr lang="en-US" dirty="0"/>
              <a:t> bi </a:t>
            </a:r>
            <a:r>
              <a:rPr lang="en-US" dirty="0" err="1"/>
              <a:t>izabrali</a:t>
            </a:r>
            <a:r>
              <a:rPr lang="en-US" dirty="0"/>
              <a:t> </a:t>
            </a:r>
            <a:r>
              <a:rPr lang="en-US" dirty="0" err="1"/>
              <a:t>vaš</a:t>
            </a:r>
            <a:r>
              <a:rPr lang="en-US" dirty="0"/>
              <a:t> </a:t>
            </a:r>
            <a:r>
              <a:rPr lang="en-US" dirty="0" err="1"/>
              <a:t>proizvod</a:t>
            </a:r>
            <a:r>
              <a:rPr lang="en-US" dirty="0"/>
              <a:t> </a:t>
            </a:r>
            <a:r>
              <a:rPr lang="en-US" dirty="0" err="1"/>
              <a:t>umjesto</a:t>
            </a:r>
            <a:r>
              <a:rPr lang="en-US" dirty="0"/>
              <a:t> </a:t>
            </a:r>
            <a:r>
              <a:rPr lang="en-US" dirty="0" err="1"/>
              <a:t>drugih</a:t>
            </a:r>
            <a:r>
              <a:rPr lang="en-US" dirty="0"/>
              <a:t>.</a:t>
            </a:r>
            <a:endParaRPr lang="sr-Latn-ME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sr-Latn-ME" b="1" dirty="0">
                <a:solidFill>
                  <a:schemeClr val="accent6">
                    <a:lumMod val="75000"/>
                  </a:schemeClr>
                </a:solidFill>
              </a:rPr>
              <a:t>Uključiti: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 err="1"/>
              <a:t>Glavni</a:t>
            </a:r>
            <a:r>
              <a:rPr lang="en-US" dirty="0"/>
              <a:t> problem koji </a:t>
            </a:r>
            <a:r>
              <a:rPr lang="en-US" dirty="0" err="1"/>
              <a:t>rješavate</a:t>
            </a:r>
            <a:endParaRPr lang="sr-Latn-ME" dirty="0"/>
          </a:p>
          <a:p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kupac</a:t>
            </a:r>
            <a:r>
              <a:rPr lang="en-US" dirty="0"/>
              <a:t> </a:t>
            </a:r>
            <a:r>
              <a:rPr lang="en-US" dirty="0" err="1"/>
              <a:t>dobija</a:t>
            </a:r>
            <a:endParaRPr lang="sr-Latn-ME" dirty="0"/>
          </a:p>
          <a:p>
            <a:r>
              <a:rPr lang="en-US" dirty="0" err="1"/>
              <a:t>Unikatni</a:t>
            </a:r>
            <a:r>
              <a:rPr lang="en-US" dirty="0"/>
              <a:t> </a:t>
            </a:r>
            <a:r>
              <a:rPr lang="en-US" dirty="0" err="1"/>
              <a:t>elementi</a:t>
            </a:r>
            <a:r>
              <a:rPr lang="en-US" dirty="0"/>
              <a:t> (po </a:t>
            </a:r>
            <a:r>
              <a:rPr lang="en-US" dirty="0" err="1"/>
              <a:t>čemu</a:t>
            </a:r>
            <a:r>
              <a:rPr lang="en-US" dirty="0"/>
              <a:t> se </a:t>
            </a:r>
            <a:r>
              <a:rPr lang="en-US" dirty="0" err="1"/>
              <a:t>razlikujete</a:t>
            </a:r>
            <a:r>
              <a:rPr lang="en-US" dirty="0"/>
              <a:t>?)</a:t>
            </a:r>
            <a:endParaRPr lang="sr-Latn-ME" dirty="0"/>
          </a:p>
          <a:p>
            <a:r>
              <a:rPr lang="en-US" dirty="0" err="1"/>
              <a:t>Šta</a:t>
            </a:r>
            <a:r>
              <a:rPr lang="en-US" dirty="0"/>
              <a:t> </a:t>
            </a:r>
            <a:r>
              <a:rPr lang="en-US" dirty="0" err="1"/>
              <a:t>uklanjate</a:t>
            </a:r>
            <a:r>
              <a:rPr lang="en-US" dirty="0"/>
              <a:t> od </a:t>
            </a:r>
            <a:r>
              <a:rPr lang="en-US" dirty="0" err="1"/>
              <a:t>bolnih</a:t>
            </a:r>
            <a:r>
              <a:rPr lang="en-US" dirty="0"/>
              <a:t> </a:t>
            </a:r>
            <a:r>
              <a:rPr lang="en-US" dirty="0" err="1"/>
              <a:t>tačaka</a:t>
            </a:r>
            <a:r>
              <a:rPr lang="en-US" dirty="0"/>
              <a:t>, a </a:t>
            </a:r>
            <a:r>
              <a:rPr lang="en-US" dirty="0" err="1"/>
              <a:t>šta</a:t>
            </a:r>
            <a:r>
              <a:rPr lang="en-US" dirty="0"/>
              <a:t> </a:t>
            </a:r>
            <a:r>
              <a:rPr lang="en-US" dirty="0" err="1"/>
              <a:t>dodajete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dodatnu</a:t>
            </a:r>
            <a:r>
              <a:rPr lang="en-US" dirty="0"/>
              <a:t> </a:t>
            </a:r>
            <a:r>
              <a:rPr lang="en-US" dirty="0" err="1"/>
              <a:t>vrijednost</a:t>
            </a:r>
            <a:endParaRPr lang="en-US" dirty="0"/>
          </a:p>
          <a:p>
            <a:pPr marL="0" indent="0">
              <a:buNone/>
            </a:pPr>
            <a:endParaRPr lang="sr-Latn-ME" dirty="0"/>
          </a:p>
          <a:p>
            <a:pPr marL="0" indent="0">
              <a:buNone/>
            </a:pPr>
            <a:r>
              <a:rPr lang="en-US" dirty="0" err="1"/>
              <a:t>Šta</a:t>
            </a:r>
            <a:r>
              <a:rPr lang="en-US" dirty="0"/>
              <a:t> </a:t>
            </a:r>
            <a:r>
              <a:rPr lang="en-US" dirty="0" err="1"/>
              <a:t>vašu</a:t>
            </a:r>
            <a:r>
              <a:rPr lang="en-US" dirty="0"/>
              <a:t> </a:t>
            </a:r>
            <a:r>
              <a:rPr lang="en-US" dirty="0" err="1"/>
              <a:t>ideju</a:t>
            </a:r>
            <a:r>
              <a:rPr lang="en-US" dirty="0"/>
              <a:t> </a:t>
            </a:r>
            <a:r>
              <a:rPr lang="en-US" dirty="0" err="1"/>
              <a:t>čini</a:t>
            </a:r>
            <a:r>
              <a:rPr lang="en-US" dirty="0"/>
              <a:t> </a:t>
            </a:r>
            <a:r>
              <a:rPr lang="en-US" dirty="0" err="1"/>
              <a:t>vrijednom</a:t>
            </a:r>
            <a:r>
              <a:rPr lang="en-US" dirty="0"/>
              <a:t>? </a:t>
            </a:r>
            <a:r>
              <a:rPr lang="en-US" dirty="0" err="1"/>
              <a:t>Zašto</a:t>
            </a:r>
            <a:r>
              <a:rPr lang="en-US" dirty="0"/>
              <a:t> bi je </a:t>
            </a:r>
            <a:r>
              <a:rPr lang="en-US" dirty="0" err="1"/>
              <a:t>neko</a:t>
            </a:r>
            <a:r>
              <a:rPr lang="en-US" dirty="0"/>
              <a:t> </a:t>
            </a:r>
            <a:r>
              <a:rPr lang="en-US" dirty="0" err="1"/>
              <a:t>koristio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499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32DD5-3610-5740-4E6E-3FC96431C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83FB3-FCB5-CCB2-E912-17FA6D7D5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86652" cy="1325563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Channels (Kanali)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F53B-8CA7-0250-1B7F-8CEC10420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Na koji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vaš</a:t>
            </a:r>
            <a:r>
              <a:rPr lang="en-US" dirty="0"/>
              <a:t> </a:t>
            </a:r>
            <a:r>
              <a:rPr lang="en-US" dirty="0" err="1"/>
              <a:t>proizvod</a:t>
            </a:r>
            <a:r>
              <a:rPr lang="en-US" dirty="0"/>
              <a:t>/</a:t>
            </a:r>
            <a:r>
              <a:rPr lang="en-US" dirty="0" err="1"/>
              <a:t>usluga</a:t>
            </a:r>
            <a:r>
              <a:rPr lang="en-US" dirty="0"/>
              <a:t> </a:t>
            </a:r>
            <a:r>
              <a:rPr lang="en-US" dirty="0" err="1"/>
              <a:t>stiže</a:t>
            </a:r>
            <a:r>
              <a:rPr lang="en-US" dirty="0"/>
              <a:t> do </a:t>
            </a:r>
            <a:r>
              <a:rPr lang="en-US" dirty="0" err="1"/>
              <a:t>kupaca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sr-Latn-ME" b="1" dirty="0">
                <a:solidFill>
                  <a:schemeClr val="accent6">
                    <a:lumMod val="75000"/>
                  </a:schemeClr>
                </a:solidFill>
              </a:rPr>
              <a:t>Uključiti: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Kanali </a:t>
            </a:r>
            <a:r>
              <a:rPr lang="en-US" dirty="0" err="1"/>
              <a:t>komunikacije</a:t>
            </a:r>
            <a:r>
              <a:rPr lang="en-US" dirty="0"/>
              <a:t> (</a:t>
            </a:r>
            <a:r>
              <a:rPr lang="en-US" dirty="0" err="1"/>
              <a:t>društvene</a:t>
            </a:r>
            <a:r>
              <a:rPr lang="en-US" dirty="0"/>
              <a:t> </a:t>
            </a:r>
            <a:r>
              <a:rPr lang="en-US" dirty="0" err="1"/>
              <a:t>mreže</a:t>
            </a:r>
            <a:r>
              <a:rPr lang="en-US" dirty="0"/>
              <a:t>, </a:t>
            </a:r>
            <a:r>
              <a:rPr lang="en-US" dirty="0" err="1"/>
              <a:t>reklame</a:t>
            </a:r>
            <a:r>
              <a:rPr lang="en-US" dirty="0"/>
              <a:t>, email…)</a:t>
            </a:r>
            <a:endParaRPr lang="sr-Latn-ME" dirty="0"/>
          </a:p>
          <a:p>
            <a:r>
              <a:rPr lang="en-US" dirty="0"/>
              <a:t>Kanali </a:t>
            </a:r>
            <a:r>
              <a:rPr lang="en-US" dirty="0" err="1"/>
              <a:t>distribucije</a:t>
            </a:r>
            <a:r>
              <a:rPr lang="en-US" dirty="0"/>
              <a:t> (</a:t>
            </a:r>
            <a:r>
              <a:rPr lang="en-US" dirty="0" err="1"/>
              <a:t>dostava</a:t>
            </a:r>
            <a:r>
              <a:rPr lang="en-US" dirty="0"/>
              <a:t>, </a:t>
            </a:r>
            <a:r>
              <a:rPr lang="en-US" dirty="0" err="1"/>
              <a:t>aplikacija</a:t>
            </a:r>
            <a:r>
              <a:rPr lang="en-US" dirty="0"/>
              <a:t>, </a:t>
            </a:r>
            <a:r>
              <a:rPr lang="en-US" dirty="0" err="1"/>
              <a:t>prodavnica</a:t>
            </a:r>
            <a:r>
              <a:rPr lang="en-US" dirty="0"/>
              <a:t>…)</a:t>
            </a:r>
            <a:endParaRPr lang="sr-Latn-ME" dirty="0"/>
          </a:p>
          <a:p>
            <a:r>
              <a:rPr lang="en-US" dirty="0" err="1"/>
              <a:t>Prodajni</a:t>
            </a:r>
            <a:r>
              <a:rPr lang="en-US" dirty="0"/>
              <a:t> </a:t>
            </a:r>
            <a:r>
              <a:rPr lang="en-US" dirty="0" err="1"/>
              <a:t>kanali</a:t>
            </a:r>
            <a:r>
              <a:rPr lang="en-US" dirty="0"/>
              <a:t> (online shop, </a:t>
            </a:r>
            <a:r>
              <a:rPr lang="en-US" dirty="0" err="1"/>
              <a:t>fizička</a:t>
            </a:r>
            <a:r>
              <a:rPr lang="en-US" dirty="0"/>
              <a:t> </a:t>
            </a:r>
            <a:r>
              <a:rPr lang="en-US" dirty="0" err="1"/>
              <a:t>prodaja</a:t>
            </a:r>
            <a:r>
              <a:rPr lang="en-US" dirty="0"/>
              <a:t>…)</a:t>
            </a:r>
            <a:endParaRPr lang="sr-Latn-ME" dirty="0"/>
          </a:p>
          <a:p>
            <a:endParaRPr lang="sr-Latn-ME" dirty="0"/>
          </a:p>
          <a:p>
            <a:pPr marL="0" indent="0">
              <a:buNone/>
            </a:pPr>
            <a:r>
              <a:rPr lang="en-US" dirty="0"/>
              <a:t>Kako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kupci</a:t>
            </a:r>
            <a:r>
              <a:rPr lang="en-US" dirty="0"/>
              <a:t> </a:t>
            </a:r>
            <a:r>
              <a:rPr lang="en-US" dirty="0" err="1"/>
              <a:t>čuti</a:t>
            </a:r>
            <a:r>
              <a:rPr lang="en-US" dirty="0"/>
              <a:t> za vas? Kako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kupiti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preuzeti</a:t>
            </a:r>
            <a:r>
              <a:rPr lang="en-US" dirty="0"/>
              <a:t> </a:t>
            </a:r>
            <a:r>
              <a:rPr lang="en-US" dirty="0" err="1"/>
              <a:t>proizvod</a:t>
            </a:r>
            <a:r>
              <a:rPr lang="en-US" dirty="0"/>
              <a:t>/</a:t>
            </a:r>
            <a:r>
              <a:rPr lang="en-US" dirty="0" err="1"/>
              <a:t>uslugu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989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B1C26-BB61-560B-DACE-EF57C7293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A2840-BCF0-94B0-1007-2499362BC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86652" cy="1325563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Customer Relationships 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Odnosi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sa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kupcima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EC6B7-006F-A487-EE74-8B3038262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err="1"/>
              <a:t>Vrsta</a:t>
            </a:r>
            <a:r>
              <a:rPr lang="en-US" dirty="0"/>
              <a:t> </a:t>
            </a:r>
            <a:r>
              <a:rPr lang="en-US" dirty="0" err="1"/>
              <a:t>odnosa</a:t>
            </a:r>
            <a:r>
              <a:rPr lang="en-US" dirty="0"/>
              <a:t> </a:t>
            </a:r>
            <a:r>
              <a:rPr lang="en-US" dirty="0" err="1"/>
              <a:t>koju</a:t>
            </a:r>
            <a:r>
              <a:rPr lang="en-US" dirty="0"/>
              <a:t> </a:t>
            </a:r>
            <a:r>
              <a:rPr lang="en-US" dirty="0" err="1"/>
              <a:t>gradite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kupcima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sr-Latn-ME" b="1" dirty="0">
                <a:solidFill>
                  <a:schemeClr val="accent6">
                    <a:lumMod val="75000"/>
                  </a:schemeClr>
                </a:solidFill>
              </a:rPr>
              <a:t>Uključiti: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sr-Latn-ME" dirty="0"/>
              <a:t>Lična ili automatizovana podrška</a:t>
            </a:r>
          </a:p>
          <a:p>
            <a:r>
              <a:rPr lang="sr-Latn-ME" dirty="0"/>
              <a:t>Izgradnja zajednice</a:t>
            </a:r>
          </a:p>
          <a:p>
            <a:r>
              <a:rPr lang="sr-Latn-ME" dirty="0"/>
              <a:t>Samouslužni modeli</a:t>
            </a:r>
          </a:p>
          <a:p>
            <a:r>
              <a:rPr lang="sr-Latn-ME" dirty="0"/>
              <a:t>Korisnička podrška</a:t>
            </a:r>
          </a:p>
          <a:p>
            <a:endParaRPr lang="sr-Latn-ME" dirty="0"/>
          </a:p>
          <a:p>
            <a:pPr marL="0" indent="0">
              <a:buNone/>
            </a:pPr>
            <a:r>
              <a:rPr lang="en-US" dirty="0"/>
              <a:t>Kako </a:t>
            </a:r>
            <a:r>
              <a:rPr lang="en-US" dirty="0" err="1"/>
              <a:t>komunicirate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kupcima</a:t>
            </a:r>
            <a:r>
              <a:rPr lang="en-US" dirty="0"/>
              <a:t>? </a:t>
            </a:r>
            <a:r>
              <a:rPr lang="en-US" dirty="0" err="1"/>
              <a:t>Kakvu</a:t>
            </a:r>
            <a:r>
              <a:rPr lang="en-US" dirty="0"/>
              <a:t> </a:t>
            </a:r>
            <a:r>
              <a:rPr lang="en-US" dirty="0" err="1"/>
              <a:t>vrstu</a:t>
            </a:r>
            <a:r>
              <a:rPr lang="en-US" dirty="0"/>
              <a:t> </a:t>
            </a:r>
            <a:r>
              <a:rPr lang="en-US" dirty="0" err="1"/>
              <a:t>podrške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odnosa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pružate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59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49C17-71A4-28A4-9F59-EAB165A03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2F8E4-7D43-E9EC-E053-7F097DC6E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86652" cy="1325563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Revenue Streams 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Prihodni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tokovi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BE01D-ED5A-CF92-C0FF-B761256E2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l-PL" dirty="0"/>
              <a:t>Na koji način biznis zarađuje novac.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sr-Latn-ME" b="1" dirty="0">
                <a:solidFill>
                  <a:schemeClr val="accent6">
                    <a:lumMod val="75000"/>
                  </a:schemeClr>
                </a:solidFill>
              </a:rPr>
              <a:t>Uključiti: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sr-Latn-ME" dirty="0"/>
              <a:t>Direktna prodaja</a:t>
            </a:r>
          </a:p>
          <a:p>
            <a:r>
              <a:rPr lang="sr-Latn-ME" dirty="0"/>
              <a:t>Pretplate</a:t>
            </a:r>
          </a:p>
          <a:p>
            <a:r>
              <a:rPr lang="sr-Latn-ME" dirty="0"/>
              <a:t>Provizije</a:t>
            </a:r>
          </a:p>
          <a:p>
            <a:r>
              <a:rPr lang="sr-Latn-ME" dirty="0"/>
              <a:t>Licenciranje</a:t>
            </a:r>
          </a:p>
          <a:p>
            <a:r>
              <a:rPr lang="sr-Latn-ME" dirty="0"/>
              <a:t>Freemium modeli</a:t>
            </a:r>
          </a:p>
          <a:p>
            <a:r>
              <a:rPr lang="sr-Latn-ME" dirty="0"/>
              <a:t>Oglašavanje</a:t>
            </a:r>
          </a:p>
          <a:p>
            <a:endParaRPr lang="sr-Latn-ME" dirty="0"/>
          </a:p>
          <a:p>
            <a:pPr marL="0" indent="0">
              <a:buNone/>
            </a:pPr>
            <a:r>
              <a:rPr lang="en-US" dirty="0"/>
              <a:t>Kako </a:t>
            </a:r>
            <a:r>
              <a:rPr lang="en-US" dirty="0" err="1"/>
              <a:t>ćete</a:t>
            </a:r>
            <a:r>
              <a:rPr lang="en-US" dirty="0"/>
              <a:t> </a:t>
            </a:r>
            <a:r>
              <a:rPr lang="en-US" dirty="0" err="1"/>
              <a:t>zarađivati</a:t>
            </a:r>
            <a:r>
              <a:rPr lang="en-US" dirty="0"/>
              <a:t>? Koji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glavni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dodatni</a:t>
            </a:r>
            <a:r>
              <a:rPr lang="en-US" dirty="0"/>
              <a:t> </a:t>
            </a:r>
            <a:r>
              <a:rPr lang="en-US" dirty="0" err="1"/>
              <a:t>izvori</a:t>
            </a:r>
            <a:r>
              <a:rPr lang="en-US" dirty="0"/>
              <a:t> </a:t>
            </a:r>
            <a:r>
              <a:rPr lang="en-US" dirty="0" err="1"/>
              <a:t>prihoda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03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F81C8-77A9-579D-5D1D-A90BCCA9C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10D8E-870E-96C4-2B87-4111B3FE6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86652" cy="1325563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Key Resources 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Ključni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resursi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A15D2-60C7-62A0-4DD3-6AC104A11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dirty="0"/>
              <a:t>Najvažniji resursi potrebni za funkcionisanje biznisa.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sr-Latn-ME" b="1" dirty="0">
                <a:solidFill>
                  <a:schemeClr val="accent6">
                    <a:lumMod val="75000"/>
                  </a:schemeClr>
                </a:solidFill>
              </a:rPr>
              <a:t>Uključiti: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sr-Latn-ME" dirty="0"/>
              <a:t>Ljudi i vještine (tim)</a:t>
            </a:r>
          </a:p>
          <a:p>
            <a:r>
              <a:rPr lang="sr-Latn-ME" dirty="0"/>
              <a:t>Fizički resursi (oprema, prostor)</a:t>
            </a:r>
          </a:p>
          <a:p>
            <a:r>
              <a:rPr lang="sr-Latn-ME" dirty="0"/>
              <a:t>Intelektualni resursi (brend, tehnologija, znanje)</a:t>
            </a:r>
          </a:p>
          <a:p>
            <a:r>
              <a:rPr lang="sr-Latn-ME" dirty="0"/>
              <a:t>Finansijski resursi (sredstva, investicije, krediti)</a:t>
            </a:r>
          </a:p>
          <a:p>
            <a:endParaRPr lang="sr-Latn-ME" dirty="0"/>
          </a:p>
          <a:p>
            <a:r>
              <a:rPr lang="en-US" dirty="0" err="1"/>
              <a:t>Šta</a:t>
            </a:r>
            <a:r>
              <a:rPr lang="en-US" dirty="0"/>
              <a:t> </a:t>
            </a:r>
            <a:r>
              <a:rPr lang="en-US" dirty="0" err="1"/>
              <a:t>vam</a:t>
            </a:r>
            <a:r>
              <a:rPr lang="en-US" dirty="0"/>
              <a:t> je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potrebno</a:t>
            </a:r>
            <a:r>
              <a:rPr lang="en-US" dirty="0"/>
              <a:t> da </a:t>
            </a:r>
            <a:r>
              <a:rPr lang="en-US" dirty="0" err="1"/>
              <a:t>biste</a:t>
            </a:r>
            <a:r>
              <a:rPr lang="en-US" dirty="0"/>
              <a:t> </a:t>
            </a:r>
            <a:r>
              <a:rPr lang="en-US" dirty="0" err="1"/>
              <a:t>isporučili</a:t>
            </a:r>
            <a:r>
              <a:rPr lang="en-US" dirty="0"/>
              <a:t> </a:t>
            </a:r>
            <a:r>
              <a:rPr lang="en-US" dirty="0" err="1"/>
              <a:t>vrijednost</a:t>
            </a:r>
            <a:r>
              <a:rPr lang="en-US" dirty="0"/>
              <a:t> </a:t>
            </a:r>
            <a:r>
              <a:rPr lang="en-US" dirty="0" err="1"/>
              <a:t>kupcu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97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54A2B-9159-ABF3-AC69-3F2FBE317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15289-D15C-64B0-3140-0DDA260F8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86652" cy="1325563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Key Activities 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Ključne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aktivnosti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E64CF-F373-F7A4-AEE2-1D6F5DDC8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Najvažnije</a:t>
            </a:r>
            <a:r>
              <a:rPr lang="en-US" dirty="0"/>
              <a:t> </a:t>
            </a:r>
            <a:r>
              <a:rPr lang="en-US" dirty="0" err="1"/>
              <a:t>aktivnosti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morate</a:t>
            </a:r>
            <a:r>
              <a:rPr lang="en-US" dirty="0"/>
              <a:t> </a:t>
            </a:r>
            <a:r>
              <a:rPr lang="en-US" dirty="0" err="1"/>
              <a:t>obavljati</a:t>
            </a:r>
            <a:r>
              <a:rPr lang="en-US" dirty="0"/>
              <a:t> da bi </a:t>
            </a:r>
            <a:r>
              <a:rPr lang="en-US" dirty="0" err="1"/>
              <a:t>biznis</a:t>
            </a:r>
            <a:r>
              <a:rPr lang="en-US" dirty="0"/>
              <a:t> </a:t>
            </a:r>
            <a:r>
              <a:rPr lang="en-US" dirty="0" err="1"/>
              <a:t>funkcionisao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sr-Latn-ME" b="1" dirty="0">
                <a:solidFill>
                  <a:schemeClr val="accent6">
                    <a:lumMod val="75000"/>
                  </a:schemeClr>
                </a:solidFill>
              </a:rPr>
              <a:t>Uključiti: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sr-Latn-ME" dirty="0"/>
              <a:t>Razvoj proizvoda</a:t>
            </a:r>
          </a:p>
          <a:p>
            <a:r>
              <a:rPr lang="sr-Latn-ME" dirty="0"/>
              <a:t>Marketing i prodaja</a:t>
            </a:r>
          </a:p>
          <a:p>
            <a:r>
              <a:rPr lang="sr-Latn-ME" dirty="0"/>
              <a:t>Korisnička podrška</a:t>
            </a:r>
          </a:p>
          <a:p>
            <a:r>
              <a:rPr lang="sr-Latn-ME" dirty="0"/>
              <a:t>Operacije i logistika</a:t>
            </a:r>
          </a:p>
          <a:p>
            <a:r>
              <a:rPr lang="sr-Latn-ME" dirty="0"/>
              <a:t>Kreiranje sadržaja</a:t>
            </a:r>
          </a:p>
          <a:p>
            <a:endParaRPr lang="sr-Latn-ME" dirty="0"/>
          </a:p>
          <a:p>
            <a:pPr marL="0" indent="0">
              <a:buNone/>
            </a:pP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aktivnosti</a:t>
            </a:r>
            <a:r>
              <a:rPr lang="en-US" dirty="0"/>
              <a:t> </a:t>
            </a:r>
            <a:r>
              <a:rPr lang="en-US" dirty="0" err="1"/>
              <a:t>morate</a:t>
            </a:r>
            <a:r>
              <a:rPr lang="en-US" dirty="0"/>
              <a:t> </a:t>
            </a:r>
            <a:r>
              <a:rPr lang="en-US" dirty="0" err="1"/>
              <a:t>svakodnevno</a:t>
            </a:r>
            <a:r>
              <a:rPr lang="en-US" dirty="0"/>
              <a:t> </a:t>
            </a:r>
            <a:r>
              <a:rPr lang="en-US" dirty="0" err="1"/>
              <a:t>obavljati</a:t>
            </a:r>
            <a:r>
              <a:rPr lang="en-US" dirty="0"/>
              <a:t> da </a:t>
            </a:r>
            <a:r>
              <a:rPr lang="en-US" dirty="0" err="1"/>
              <a:t>biste</a:t>
            </a:r>
            <a:r>
              <a:rPr lang="en-US" dirty="0"/>
              <a:t> </a:t>
            </a:r>
            <a:r>
              <a:rPr lang="en-US" dirty="0" err="1"/>
              <a:t>isporučili</a:t>
            </a:r>
            <a:r>
              <a:rPr lang="en-US" dirty="0"/>
              <a:t> </a:t>
            </a:r>
            <a:r>
              <a:rPr lang="en-US" dirty="0" err="1"/>
              <a:t>vrijednost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771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9AC6D-F160-384A-CDF6-5FC705FB3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A1E71-193E-A213-DF7E-17AB36237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86652" cy="1325563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Key Partners 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Ključni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partneri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C69E2-EF17-6B41-8EF9-42E4BBEF6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86652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err="1"/>
              <a:t>Ljudi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organizacije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kojima</a:t>
            </a:r>
            <a:r>
              <a:rPr lang="en-US" dirty="0"/>
              <a:t> </a:t>
            </a:r>
            <a:r>
              <a:rPr lang="en-US" dirty="0" err="1"/>
              <a:t>sarađujete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bi </a:t>
            </a:r>
            <a:r>
              <a:rPr lang="en-US" dirty="0" err="1"/>
              <a:t>biznis</a:t>
            </a:r>
            <a:r>
              <a:rPr lang="en-US" dirty="0"/>
              <a:t> </a:t>
            </a:r>
            <a:r>
              <a:rPr lang="en-US" dirty="0" err="1"/>
              <a:t>mogao</a:t>
            </a:r>
            <a:r>
              <a:rPr lang="en-US" dirty="0"/>
              <a:t> da </a:t>
            </a:r>
            <a:r>
              <a:rPr lang="en-US" dirty="0" err="1"/>
              <a:t>funkcioniše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sr-Latn-ME" b="1" dirty="0">
                <a:solidFill>
                  <a:schemeClr val="accent6">
                    <a:lumMod val="75000"/>
                  </a:schemeClr>
                </a:solidFill>
              </a:rPr>
              <a:t>Uključiti: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sr-Latn-ME" dirty="0"/>
              <a:t>Dobavljači</a:t>
            </a:r>
          </a:p>
          <a:p>
            <a:r>
              <a:rPr lang="sr-Latn-ME" dirty="0"/>
              <a:t>Strateški partneri</a:t>
            </a:r>
          </a:p>
          <a:p>
            <a:r>
              <a:rPr lang="sr-Latn-ME" dirty="0"/>
              <a:t>Outsourcing partneri</a:t>
            </a:r>
          </a:p>
          <a:p>
            <a:r>
              <a:rPr lang="sr-Latn-ME" dirty="0"/>
              <a:t>Platforme ili distributeri</a:t>
            </a:r>
          </a:p>
          <a:p>
            <a:endParaRPr lang="sr-Latn-ME" dirty="0"/>
          </a:p>
          <a:p>
            <a:pPr marL="0" indent="0">
              <a:buNone/>
            </a:pPr>
            <a:r>
              <a:rPr lang="en-US" dirty="0"/>
              <a:t>Ko </a:t>
            </a:r>
            <a:r>
              <a:rPr lang="en-US" dirty="0" err="1"/>
              <a:t>vam</a:t>
            </a:r>
            <a:r>
              <a:rPr lang="en-US" dirty="0"/>
              <a:t> </a:t>
            </a:r>
            <a:r>
              <a:rPr lang="en-US" dirty="0" err="1"/>
              <a:t>pomaže</a:t>
            </a:r>
            <a:r>
              <a:rPr lang="en-US" dirty="0"/>
              <a:t> da </a:t>
            </a:r>
            <a:r>
              <a:rPr lang="en-US" dirty="0" err="1"/>
              <a:t>isporučite</a:t>
            </a:r>
            <a:r>
              <a:rPr lang="en-US" dirty="0"/>
              <a:t> </a:t>
            </a:r>
            <a:r>
              <a:rPr lang="en-US" dirty="0" err="1"/>
              <a:t>rješenje</a:t>
            </a:r>
            <a:r>
              <a:rPr lang="en-US" dirty="0"/>
              <a:t>? Ko </a:t>
            </a:r>
            <a:r>
              <a:rPr lang="en-US" dirty="0" err="1"/>
              <a:t>obezbjeđuje</a:t>
            </a:r>
            <a:r>
              <a:rPr lang="en-US" dirty="0"/>
              <a:t> </a:t>
            </a:r>
            <a:r>
              <a:rPr lang="en-US" dirty="0" err="1"/>
              <a:t>bitne</a:t>
            </a:r>
            <a:r>
              <a:rPr lang="en-US" dirty="0"/>
              <a:t> </a:t>
            </a:r>
            <a:r>
              <a:rPr lang="en-US" dirty="0" err="1"/>
              <a:t>resurse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usluge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652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0A279-D5A4-72E6-CB24-470AA17A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BD094-DE1D-0AE3-2303-D5BC31BC1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86652" cy="1325563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Cost Structure 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Struktura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troškova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3F502-DDA3-38CD-9D52-58E8B7A78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86652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Svi </a:t>
            </a:r>
            <a:r>
              <a:rPr lang="en-US" dirty="0" err="1"/>
              <a:t>glavni</a:t>
            </a:r>
            <a:r>
              <a:rPr lang="en-US" dirty="0"/>
              <a:t> </a:t>
            </a:r>
            <a:r>
              <a:rPr lang="en-US" dirty="0" err="1"/>
              <a:t>troškovi</a:t>
            </a:r>
            <a:r>
              <a:rPr lang="en-US" dirty="0"/>
              <a:t> </a:t>
            </a:r>
            <a:r>
              <a:rPr lang="en-US" dirty="0" err="1"/>
              <a:t>potrebni</a:t>
            </a:r>
            <a:r>
              <a:rPr lang="en-US" dirty="0"/>
              <a:t> za </a:t>
            </a:r>
            <a:r>
              <a:rPr lang="en-US" dirty="0" err="1"/>
              <a:t>funkcionisanje</a:t>
            </a:r>
            <a:r>
              <a:rPr lang="en-US" dirty="0"/>
              <a:t> </a:t>
            </a:r>
            <a:r>
              <a:rPr lang="en-US" dirty="0" err="1"/>
              <a:t>biznisa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sr-Latn-ME" b="1" dirty="0">
                <a:solidFill>
                  <a:schemeClr val="accent6">
                    <a:lumMod val="75000"/>
                  </a:schemeClr>
                </a:solidFill>
              </a:rPr>
              <a:t>Uključiti: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sr-Latn-ME" dirty="0"/>
              <a:t>Fiksni troškovi (zakup, plate)</a:t>
            </a:r>
          </a:p>
          <a:p>
            <a:r>
              <a:rPr lang="sr-Latn-ME" dirty="0"/>
              <a:t>Varijabilni troškovi (materijal, dostava, proizvodnja)</a:t>
            </a:r>
          </a:p>
          <a:p>
            <a:r>
              <a:rPr lang="sr-Latn-ME" dirty="0"/>
              <a:t>Troškovi marketinga</a:t>
            </a:r>
          </a:p>
          <a:p>
            <a:r>
              <a:rPr lang="sr-Latn-ME" dirty="0"/>
              <a:t>Tehnološki troškovi</a:t>
            </a:r>
          </a:p>
          <a:p>
            <a:r>
              <a:rPr lang="sr-Latn-ME" dirty="0"/>
              <a:t>Troškovi partnera</a:t>
            </a:r>
          </a:p>
          <a:p>
            <a:endParaRPr lang="sr-Latn-ME" dirty="0"/>
          </a:p>
          <a:p>
            <a:pPr marL="0" indent="0">
              <a:buNone/>
            </a:pPr>
            <a:r>
              <a:rPr lang="en-US" dirty="0"/>
              <a:t>Koji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najveći</a:t>
            </a:r>
            <a:r>
              <a:rPr lang="en-US" dirty="0"/>
              <a:t> </a:t>
            </a:r>
            <a:r>
              <a:rPr lang="en-US" dirty="0" err="1"/>
              <a:t>troškovi</a:t>
            </a:r>
            <a:r>
              <a:rPr lang="en-US" dirty="0"/>
              <a:t>? Koji </a:t>
            </a:r>
            <a:r>
              <a:rPr lang="en-US" dirty="0" err="1"/>
              <a:t>troškovi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neizbježni</a:t>
            </a:r>
            <a:r>
              <a:rPr lang="en-US" dirty="0"/>
              <a:t> za rad </a:t>
            </a:r>
            <a:r>
              <a:rPr lang="en-US" dirty="0" err="1"/>
              <a:t>biznisa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888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Business Model Canvas: A 9‑Step Guide to Analyze Any Business">
            <a:extLst>
              <a:ext uri="{FF2B5EF4-FFF2-40B4-BE49-F238E27FC236}">
                <a16:creationId xmlns:a16="http://schemas.microsoft.com/office/drawing/2014/main" id="{D7B598CC-CFCE-EFC0-748D-0E3E971D02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87" y="397105"/>
            <a:ext cx="10177025" cy="6460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4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Example of Business Model Canvas for Automotive Company ">
            <a:extLst>
              <a:ext uri="{FF2B5EF4-FFF2-40B4-BE49-F238E27FC236}">
                <a16:creationId xmlns:a16="http://schemas.microsoft.com/office/drawing/2014/main" id="{0821C594-0331-CADA-5C57-B0BC148149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79" y="-198154"/>
            <a:ext cx="11020926" cy="7254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2026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522</Words>
  <Application>Microsoft Office PowerPoint</Application>
  <PresentationFormat>Widescreen</PresentationFormat>
  <Paragraphs>118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Predavanje n9</vt:lpstr>
      <vt:lpstr>Biznis Model Canvas (BMC)</vt:lpstr>
      <vt:lpstr>PowerPoint Presentation</vt:lpstr>
      <vt:lpstr>Customer Segments (Segmenti kupaca)</vt:lpstr>
      <vt:lpstr>Value Proposition (Vrijednosna ponuda)</vt:lpstr>
      <vt:lpstr>Channels (Kanali)</vt:lpstr>
      <vt:lpstr>Customer Relationships (Odnosi sa kupcima)</vt:lpstr>
      <vt:lpstr>Revenue Streams (Prihodni tokovi)</vt:lpstr>
      <vt:lpstr>Key Resources (Ključni resursi)</vt:lpstr>
      <vt:lpstr>Key Activities (Ključne aktivnosti)</vt:lpstr>
      <vt:lpstr>Key Partners (Ključni partneri)</vt:lpstr>
      <vt:lpstr>Cost Structure (Struktura troškova)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Korisnik</dc:creator>
  <cp:lastModifiedBy>Korisnik</cp:lastModifiedBy>
  <cp:revision>5</cp:revision>
  <dcterms:created xsi:type="dcterms:W3CDTF">2025-11-06T17:24:16Z</dcterms:created>
  <dcterms:modified xsi:type="dcterms:W3CDTF">2025-11-17T18:30:08Z</dcterms:modified>
</cp:coreProperties>
</file>